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91840bf9874d06" /><Relationship Type="http://schemas.openxmlformats.org/officeDocument/2006/relationships/extended-properties" Target="/docProps/app.xml" Id="Re9a3260974cf4901" /><Relationship Type="http://schemas.openxmlformats.org/officeDocument/2006/relationships/officeDocument" Target="/ppt/presentation.xml" Id="R42d799e33cb3427b" /></Relationships>
</file>

<file path=ppt/presentation.xml><?xml version="1.0" encoding="utf-8"?>
<p:presentation xmlns:p="http://schemas.openxmlformats.org/presentationml/2006/main">
  <p:sldMasterIdLst>
    <p:sldMasterId xmlns:r="http://schemas.openxmlformats.org/officeDocument/2006/relationships" id="2147483648" r:id="Ra89c28f3dc91471b"/>
  </p:sldMasterIdLst>
  <p:notesMasterIdLst>
    <p:notesMasterId xmlns:r="http://schemas.openxmlformats.org/officeDocument/2006/relationships" r:id="Ra5cc6bb70dd8434d"/>
  </p:notesMasterIdLst>
  <p:sldIdLst>
    <p:sldId xmlns:r="http://schemas.openxmlformats.org/officeDocument/2006/relationships" id="256" r:id="R14bf3b7e71534b97"/>
    <p:sldId xmlns:r="http://schemas.openxmlformats.org/officeDocument/2006/relationships" id="257" r:id="R9409dd1e11c24d12"/>
    <p:sldId xmlns:r="http://schemas.openxmlformats.org/officeDocument/2006/relationships" id="258" r:id="R2a883949eb1e453d"/>
    <p:sldId xmlns:r="http://schemas.openxmlformats.org/officeDocument/2006/relationships" id="259" r:id="Ra05dd20029bc46ee"/>
    <p:sldId xmlns:r="http://schemas.openxmlformats.org/officeDocument/2006/relationships" id="260" r:id="Ra0d3fd257ea549e1"/>
    <p:sldId xmlns:r="http://schemas.openxmlformats.org/officeDocument/2006/relationships" id="261" r:id="Rec7cdc67dd204d14"/>
    <p:sldId xmlns:r="http://schemas.openxmlformats.org/officeDocument/2006/relationships" id="262" r:id="R0e3c08e634eb4671"/>
    <p:sldId xmlns:r="http://schemas.openxmlformats.org/officeDocument/2006/relationships" id="263" r:id="R0874971d954b4b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14c78b3088496f" /><Relationship Type="http://schemas.openxmlformats.org/officeDocument/2006/relationships/slideMaster" Target="/ppt/slideMasters/slideMaster1.xml" Id="Ra89c28f3dc91471b" /><Relationship Type="http://schemas.openxmlformats.org/officeDocument/2006/relationships/notesMaster" Target="/ppt/notesMasters/notesMaster1.xml" Id="Ra5cc6bb70dd8434d" /><Relationship Type="http://schemas.openxmlformats.org/officeDocument/2006/relationships/presProps" Target="/ppt/presProps.xml" Id="Ra88510bc3fed4cdd" /><Relationship Type="http://schemas.openxmlformats.org/officeDocument/2006/relationships/tableStyles" Target="/ppt/tableStyles.xml" Id="R67c99f33bc8a40ec" /><Relationship Type="http://schemas.openxmlformats.org/officeDocument/2006/relationships/slide" Target="/ppt/slides/slide1.xml" Id="R14bf3b7e71534b97" /><Relationship Type="http://schemas.openxmlformats.org/officeDocument/2006/relationships/slide" Target="/ppt/slides/slide2.xml" Id="R9409dd1e11c24d12" /><Relationship Type="http://schemas.openxmlformats.org/officeDocument/2006/relationships/slide" Target="/ppt/slides/slide3.xml" Id="R2a883949eb1e453d" /><Relationship Type="http://schemas.openxmlformats.org/officeDocument/2006/relationships/slide" Target="/ppt/slides/slide4.xml" Id="Ra05dd20029bc46ee" /><Relationship Type="http://schemas.openxmlformats.org/officeDocument/2006/relationships/slide" Target="/ppt/slides/slide5.xml" Id="Ra0d3fd257ea549e1" /><Relationship Type="http://schemas.openxmlformats.org/officeDocument/2006/relationships/slide" Target="/ppt/slides/slide6.xml" Id="Rec7cdc67dd204d14" /><Relationship Type="http://schemas.openxmlformats.org/officeDocument/2006/relationships/slide" Target="/ppt/slides/slide7.xml" Id="R0e3c08e634eb4671" /><Relationship Type="http://schemas.openxmlformats.org/officeDocument/2006/relationships/slide" Target="/ppt/slides/slide8.xml" Id="R0874971d954b4b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2eab5921e347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a32ae08a1f4b0b" /><Relationship Type="http://schemas.openxmlformats.org/officeDocument/2006/relationships/notesMaster" Target="/ppt/notesMasters/notesMaster1.xml" Id="Rc97497f0e2f446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5d2afe6c1d44bc" /><Relationship Type="http://schemas.openxmlformats.org/officeDocument/2006/relationships/notesMaster" Target="/ppt/notesMasters/notesMaster1.xml" Id="Re2c99f411b3c4e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1a7ac5040043ba" /><Relationship Type="http://schemas.openxmlformats.org/officeDocument/2006/relationships/notesMaster" Target="/ppt/notesMasters/notesMaster1.xml" Id="R78181f300e1444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cfdac3d7f34c93" /><Relationship Type="http://schemas.openxmlformats.org/officeDocument/2006/relationships/notesMaster" Target="/ppt/notesMasters/notesMaster1.xml" Id="R75b29a36e47c4c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ccaeaa078b4af2" /><Relationship Type="http://schemas.openxmlformats.org/officeDocument/2006/relationships/notesMaster" Target="/ppt/notesMasters/notesMaster1.xml" Id="R68ab2b78419a47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ad16a5fb274e73" /><Relationship Type="http://schemas.openxmlformats.org/officeDocument/2006/relationships/notesMaster" Target="/ppt/notesMasters/notesMaster1.xml" Id="Rae1eb46bfd8747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c5258b3d4d47df" /><Relationship Type="http://schemas.openxmlformats.org/officeDocument/2006/relationships/notesMaster" Target="/ppt/notesMasters/notesMaster1.xml" Id="R8a9d90598da645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57bf8e54f6475a" /><Relationship Type="http://schemas.openxmlformats.org/officeDocument/2006/relationships/notesMaster" Target="/ppt/notesMasters/notesMaster1.xml" Id="R7c6a6ffaed5a43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examine algorithmic discrimination through a credit approval experiment. The question is broader than whether a model predicts repayment difficulties accurately. We also need to know which applicants receive opportunities, how a fairness intervention redistributes those opportunities, and whether the available feedback lets us measure the result reliably. I use Home Credit historical loan records and a fixed XGBoost scoring framework. The contribution is a controlled and reproducible engineering study, inspired by established research. It does not establish unlawful discrimination, and it does not represent a production lending system. I will first explain the research background, then present feasible solutions and their measured costs.</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Credit approval combines a prediction with a decision. In this experiment, TARGET zero denotes the historical normal label, while TARGET one denotes recorded repayment difficulties. The thin group has at most one observable bureau record. The comparison group has at least two. Our main opportunity measure is the false rejection rate: the share of normal-label records that the policy rejects. A small difference between two group averages does not tell us whether either group became worse off. Moreover, repayment feedback is selective because rejected applicants usually have no observed loan outcome. These issues span the entire cloud data lifecycle, from collection and processing to model training, approval rules, and feedback monitoring. Our implementation validates this lifecycle locally on a CPU.</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R1: Hardt et al., NeurIPS 2016. https://proceedings.neurips.cc/paper_files/paper/2016/hash/6a9659feb1216f14f7384ba499518b38-Abstract.html</a:t>
            </a:r>
          </a:p>
          <a:p xmlns:a="http://schemas.openxmlformats.org/drawingml/2006/main">
            <a:r>
              <a:t>R5: Lakkaraju et al., KDD 2017. https://www.cs.cornell.edu/home/kleinber/kdd17-selective.pdf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papers motivate the study. Hardt and colleagues provide the opportunity-based fairness perspective. Corbett-Davies and colleagues formulate fairness and utility as constrained decision problems. Agarwal and colleagues show how explicit fairness constraints connect to cost-sensitive classification. These ideas motivate a clear separation between business objectives and fairness requirements. Kearns and colleagues explain why fairness for a few broad groups can hide disparities inside intersections. Lakkaraju and colleagues identify the selective labels problem. Kilbertus and colleagues emphasize learning decision policies when predictions and observed outcomes are imperfect. Valdrighi and colleagues examine long-term fairness with selective labels. I borrow these questions and design principles. I do not claim to reproduce their reductions, adversarial subgroup learning, or reinforcement learning algorithms.</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R1: Hardt et al., NeurIPS 2016. https://proceedings.neurips.cc/paper_files/paper/2016/hash/6a9659feb1216f14f7384ba499518b38-Abstract.html</a:t>
            </a:r>
          </a:p>
          <a:p xmlns:a="http://schemas.openxmlformats.org/drawingml/2006/main">
            <a:r>
              <a:t>R2: Corbett-Davies et al., KDD 2017. https://www.kdd.org/kdd2017/papers/view/algorithmic-decision-making-and-the-cost-of-fairness</a:t>
            </a:r>
          </a:p>
          <a:p xmlns:a="http://schemas.openxmlformats.org/drawingml/2006/main">
            <a:r>
              <a:t>R3: Agarwal et al., ICML 2018. https://proceedings.mlr.press/v80/agarwal18a.html</a:t>
            </a:r>
          </a:p>
          <a:p xmlns:a="http://schemas.openxmlformats.org/drawingml/2006/main">
            <a:r>
              <a:t>R4: Kearns et al., ICML 2018. https://proceedings.mlr.press/v80/kearns18a.html</a:t>
            </a:r>
          </a:p>
          <a:p xmlns:a="http://schemas.openxmlformats.org/drawingml/2006/main">
            <a:r>
              <a:t>R5: Lakkaraju et al., KDD 2017. https://www.cs.cornell.edu/home/kleinber/kdd17-selective.pdf</a:t>
            </a:r>
          </a:p>
          <a:p xmlns:a="http://schemas.openxmlformats.org/drawingml/2006/main">
            <a:r>
              <a:t>R6: Kilbertus et al., AISTATS 2020. https://proceedings.mlr.press/v108/kilbertus20a.html</a:t>
            </a:r>
          </a:p>
          <a:p xmlns:a="http://schemas.openxmlformats.org/drawingml/2006/main">
            <a:r>
              <a:t>R7: Valdrighi et al., ICML 2026. https://proceedings.mlr.press/v306/valdrighi26a.html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repository already studies biased sampling, training objectives, approval constraints, and feedback updates. I checked its current audit extension rather than treating an earlier audit as the latest state. Its published evidence contains two hundred twenty model identifiers and seven hundred one evaluation rows. However, the public repository omits the model checkpoints and record-level ledgers. I therefore restored only six prespecified scoring models from hash-verified data, using the original deterministic split. The training, reference, calibration, validation, and test proportions remain fifty, ten, ten, ten, and twenty percent. All policies for all six models freeze before test evaluation. The test records were examined previously, so this is a follow-up mechanism study, not a new blind test.</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full-model comparison shows why the fairness objective needs careful interpretation. Business Group produces a thin-group false rejection rate of twenty point one five percent and a comparison-group rate of fourteen point three two percent. Adding only the gap constraint reduces the thin-group rate to sixteen point one four percent, but raises the comparison-group rate to sixteen point zero five percent. The absolute gap falls from five point eight three to zero point zero nine percentage points. Approval falls by about zero point two six percentage points, while test approved risk remains about four point seven nine percent. The model and its AUC are identical. These changes come entirely from decision rules. A smaller gap therefore describes a redistribution of opportunity, rather than evidence that everyone benefits.</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R2: Corbett-Davies et al., KDD 2017. https://www.kdd.org/kdd2017/papers/view/algorithmic-decision-making-and-the-cost-of-fairness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main proposed solution adds a groupwise no-harm constraint. We maximize approval while keeping validation approved risk below five percent, the absolute false rejection gap below two percentage points, and each group's deterioration below one percentage point relative to the same-model business rule. Every strategy uses the same threshold grid and deterministic tie handling. The result is informative even when the optimization fails. Under the primary parameters, three of the six models have no feasible grid solution. The other three select exactly the same rule as gap-only. We do not relax the constraints or disguise failure as rejecting everyone. Sensitivity analysis retains every prespecified epsilon and delta. The engineering value is exposing the feasibility boundary and the cost of protection, rather than guaranteeing an improvement.</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R1: Hardt et al., NeurIPS 2016. https://proceedings.neurips.cc/paper_files/paper/2016/hash/6a9659feb1216f14f7384ba499518b38-Abstract.html</a:t>
            </a:r>
          </a:p>
          <a:p xmlns:a="http://schemas.openxmlformats.org/drawingml/2006/main">
            <a:r>
              <a:t>R2: Corbett-Davies et al., KDD 2017. https://www.kdd.org/kdd2017/papers/view/algorithmic-decision-making-and-the-cost-of-fairness</a:t>
            </a:r>
          </a:p>
          <a:p xmlns:a="http://schemas.openxmlformats.org/drawingml/2006/main">
            <a:r>
              <a:t>R3: Agarwal et al., ICML 2018. https://proceedings.mlr.press/v80/agarwal18a.html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remaining audits address who may lose and how reliably we can evaluate that loss. Six income intersections use boundaries estimated only from training data. In the full-model gap-only policy, the middle-income comparison subgroup's false rejection rate rises by about one point eight two percentage points. This is an exploratory finding. For selective labels, we freeze the original planned decisions, randomly approve some planned rejections, and keep planned approval distinct from actual approval. At ten percent exploration, thin-group naive false rejection is only about two point four nine percent, while IPW estimates twenty point three three percent against a twenty point one five percent offline oracle. But information costs risk: overall actual approved risk rises from about four point seven nine to five point one eight percent. Zero exploration leaves rejected-label fairness unidentified.</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R4: Kearns et al., ICML 2018. https://proceedings.mlr.press/v80/kearns18a.html</a:t>
            </a:r>
          </a:p>
          <a:p xmlns:a="http://schemas.openxmlformats.org/drawingml/2006/main">
            <a:r>
              <a:t>R5: Lakkaraju et al., KDD 2017. https://www.cs.cornell.edu/home/kleinber/kdd17-selective.pdf</a:t>
            </a:r>
          </a:p>
          <a:p xmlns:a="http://schemas.openxmlformats.org/drawingml/2006/main">
            <a:r>
              <a:t>R6: Kilbertus et al., AISTATS 2020. https://proceedings.mlr.press/v108/kilbertus20a.html</a:t>
            </a:r>
          </a:p>
          <a:p xmlns:a="http://schemas.openxmlformats.org/drawingml/2006/main">
            <a:r>
              <a:t>R7: Valdrighi et al., ICML 2026. https://proceedings.mlr.press/v306/valdrighi26a.html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lesson is to evaluate fairness interventions as constrained decisions with explicit costs and reliable monitoring. A reduced group gap can coexist with harm to another group or an internal subgroup. No-harm constraints can be infeasible. Exploration can improve label coverage while increasing lending risk. Our independent checks reconstruct the policies and saved record-level arithmetic, but they do not establish future fairness. The study still lacks real rejected-applicant counterfactuals, temporal validation, and person-level clustering. The cloud architecture is a feasible extension proposal. We completed local CPU validation, with no AWS deployment or distributed performance benchmark. These boundaries are part of the result.</a:t>
            </a:r>
          </a:p>
          <a:p xmlns:a="http://schemas.openxmlformats.org/drawingml/2006/main">
            <a:r>
              <a:t/>
            </a:r>
          </a:p>
          <a:p xmlns:a="http://schemas.openxmlformats.org/drawingml/2006/main">
            <a:r>
              <a:t>Sources (not spoken):</a:t>
            </a:r>
          </a:p>
          <a:p xmlns:a="http://schemas.openxmlformats.org/drawingml/2006/main">
            <a:r>
              <a:t>Local evidence: research_extension_v2/results/run_001; historical audit_extension/results.</a:t>
            </a:r>
          </a:p>
          <a:p xmlns:a="http://schemas.openxmlformats.org/drawingml/2006/main">
            <a:r>
              <a:t>R6: Kilbertus et al., AISTATS 2020. https://proceedings.mlr.press/v108/kilbertus20a.html</a:t>
            </a:r>
          </a:p>
          <a:p xmlns:a="http://schemas.openxmlformats.org/drawingml/2006/main">
            <a:r>
              <a:t>R7: Valdrighi et al., ICML 2026. https://proceedings.mlr.press/v306/valdrighi26a.html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422db2792d4a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7e76c977cb4c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fb51d600f148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ac1a4fdb764e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8af437ebcd4b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f7fd2d32ff4d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23F094-DE4F-4E60-9D42-4C820D9D72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00CA0C-DB99-4924-BB6C-7D5B0EBEA4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2EC611-FCEC-4391-91B0-0DBAB14DD65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579D66-CA0F-4D39-9587-233EECE4C4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5D0122-46EF-41DD-A722-D8B32F40D2E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BAAAEF-FA9A-476B-9CD3-8E7FEE40F9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682167-8330-4594-AB8E-5FCF469DCC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66A7E1-92AB-497F-9CD7-F74B5E6198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FFF328-2DA3-4AD1-A31F-6C58A22ECB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C86D6F-611F-4129-9881-946BF2F09B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fafb04020a4667" /><Relationship Type="http://schemas.openxmlformats.org/officeDocument/2006/relationships/slideLayout" Target="/ppt/slideLayouts/slideLayout1.xml" Id="R9bc0c3a0746742d9" /><Relationship Type="http://schemas.openxmlformats.org/officeDocument/2006/relationships/slideLayout" Target="/ppt/slideLayouts/slideLayout2.xml" Id="R12aa65b78ae14435" /><Relationship Type="http://schemas.openxmlformats.org/officeDocument/2006/relationships/slideLayout" Target="/ppt/slideLayouts/slideLayout3.xml" Id="R9a3f8b44ef8546fe" /><Relationship Type="http://schemas.openxmlformats.org/officeDocument/2006/relationships/slideLayout" Target="/ppt/slideLayouts/slideLayout4.xml" Id="R07b4e1b4b3ef4e3f" /><Relationship Type="http://schemas.openxmlformats.org/officeDocument/2006/relationships/slideLayout" Target="/ppt/slideLayouts/slideLayout5.xml" Id="R98d91f9e79fa4313" /><Relationship Type="http://schemas.openxmlformats.org/officeDocument/2006/relationships/slideLayout" Target="/ppt/slideLayouts/slideLayout6.xml" Id="R940fe7460e0742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c0c3a0746742d9"/>
    <p:sldLayoutId xmlns:r="http://schemas.openxmlformats.org/officeDocument/2006/relationships" id="2147483650" r:id="R12aa65b78ae14435"/>
    <p:sldLayoutId xmlns:r="http://schemas.openxmlformats.org/officeDocument/2006/relationships" id="2147483651" r:id="R9a3f8b44ef8546fe"/>
    <p:sldLayoutId xmlns:r="http://schemas.openxmlformats.org/officeDocument/2006/relationships" id="2147483652" r:id="R07b4e1b4b3ef4e3f"/>
    <p:sldLayoutId xmlns:r="http://schemas.openxmlformats.org/officeDocument/2006/relationships" id="2147483653" r:id="R98d91f9e79fa4313"/>
    <p:sldLayoutId xmlns:r="http://schemas.openxmlformats.org/officeDocument/2006/relationships" id="2147483654" r:id="R940fe7460e0742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107cc789074958" /><Relationship Type="http://schemas.openxmlformats.org/officeDocument/2006/relationships/notesSlide" Target="/ppt/notesSlides/notesSlide1.xml" Id="R829769aa97d244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14ce9167b14f9c" /><Relationship Type="http://schemas.openxmlformats.org/officeDocument/2006/relationships/notesSlide" Target="/ppt/notesSlides/notesSlide2.xml" Id="R255503bd244844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01760046c2400a" /><Relationship Type="http://schemas.openxmlformats.org/officeDocument/2006/relationships/notesSlide" Target="/ppt/notesSlides/notesSlide3.xml" Id="Rdbc494472c5347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6a7eef46874102" /><Relationship Type="http://schemas.openxmlformats.org/officeDocument/2006/relationships/notesSlide" Target="/ppt/notesSlides/notesSlide4.xml" Id="R07c8045594b347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3985fa3d8748af" /><Relationship Type="http://schemas.openxmlformats.org/officeDocument/2006/relationships/chart" Target="/ppt/slides/charts/chart1.xml" Id="Rd4e7185ceac94a7d" /><Relationship Type="http://schemas.openxmlformats.org/officeDocument/2006/relationships/notesSlide" Target="/ppt/notesSlides/notesSlide5.xml" Id="Re9f8811f069049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3c9f2a0c414afd" /><Relationship Type="http://schemas.openxmlformats.org/officeDocument/2006/relationships/notesSlide" Target="/ppt/notesSlides/notesSlide6.xml" Id="Rb7a096360e3649a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e75a17daa243d4" /><Relationship Type="http://schemas.openxmlformats.org/officeDocument/2006/relationships/chart" Target="/ppt/slides/charts/chart2.xml" Id="R0aa0abfa76cb4bdf" /><Relationship Type="http://schemas.openxmlformats.org/officeDocument/2006/relationships/chart" Target="/ppt/slides/charts/chart3.xml" Id="Ra2c5d6d22f8244ae" /><Relationship Type="http://schemas.openxmlformats.org/officeDocument/2006/relationships/notesSlide" Target="/ppt/notesSlides/notesSlide7.xml" Id="Re18562f677f74cf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9c73728a6544fe" /><Relationship Type="http://schemas.openxmlformats.org/officeDocument/2006/relationships/notesSlide" Target="/ppt/notesSlides/notesSlide8.xml" Id="R32f08abf9e204ac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Thin</c:v>
          </c:tx>
          <c:spPr>
            <a:solidFill xmlns:a="http://schemas.openxmlformats.org/drawingml/2006/main">
              <a:srgbClr val="167D86"/>
            </a:solidFill>
          </c:spPr>
          <c:invertIfNegative val="0"/>
          <c:cat>
            <c:strRef>
              <c:f>'Chart Data'!$A$2:$A$3</c:f>
              <c:strCache>
                <c:ptCount val="2"/>
                <c:pt idx="0">
                  <c:v>Business Group</c:v>
                </c:pt>
                <c:pt idx="1">
                  <c:v>Fair Gap Only</c:v>
                </c:pt>
              </c:strCache>
            </c:strRef>
          </c:cat>
          <c:val>
            <c:numRef>
              <c:f>'Chart Data'!$B$2:$B$3</c:f>
              <c:numCache>
                <c:formatCode>0.0</c:formatCode>
                <c:ptCount val="2"/>
                <c:pt idx="0">
                  <c:v>20.15</c:v>
                </c:pt>
                <c:pt idx="1">
                  <c:v>16.14</c:v>
                </c:pt>
              </c:numCache>
            </c:numRef>
          </c:val>
        </c:ser>
        <c:ser>
          <c:idx val="1"/>
          <c:order val="1"/>
          <c:tx>
            <c:v>Comparison</c:v>
          </c:tx>
          <c:spPr>
            <a:solidFill xmlns:a="http://schemas.openxmlformats.org/drawingml/2006/main">
              <a:srgbClr val="62778A"/>
            </a:solidFill>
          </c:spPr>
          <c:invertIfNegative val="0"/>
          <c:cat>
            <c:strRef>
              <c:f>'Chart Data'!$C$2:$C$3</c:f>
              <c:strCache>
                <c:ptCount val="2"/>
                <c:pt idx="0">
                  <c:v>Business Group</c:v>
                </c:pt>
                <c:pt idx="1">
                  <c:v>Fair Gap Only</c:v>
                </c:pt>
              </c:strCache>
            </c:strRef>
          </c:cat>
          <c:val>
            <c:numRef>
              <c:f>'Chart Data'!$D$2:$D$3</c:f>
              <c:numCache>
                <c:formatCode>0.0</c:formatCode>
                <c:ptCount val="2"/>
                <c:pt idx="0">
                  <c:v>14.32</c:v>
                </c:pt>
                <c:pt idx="1">
                  <c:v>16.05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crossAx val="48672768"/>
      </c:catAx>
      <c:valAx>
        <c:axId val="48672768"/>
        <c:scaling>
          <c:orientation val="minMax"/>
          <c:max val="25"/>
          <c:min val="0"/>
        </c:scaling>
        <c:delete val="0"/>
        <c:axPos val="l"/>
        <c:majorGridlines>
          <c:spPr>
            <a:ln xmlns:a="http://schemas.openxmlformats.org/drawingml/2006/main" w="4763">
              <a:solidFill>
                <a:srgbClr val="DDE1DF"/>
              </a:solidFill>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Test FRR (%)</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270"/>
                </a:solidFill>
                <a:latin typeface="Helvetica Neue"/>
                <a:ea typeface="Helvetica Neue"/>
                <a:cs typeface="Helvetica Neue"/>
              </a:defRPr>
            </a:pPr>
          </a:p>
        </c:txPr>
        <c:crossAx val="48650112"/>
        <c:crossBetween val="between"/>
      </c:valAx>
      <c:spPr>
        <a:solidFill xmlns:a="http://schemas.openxmlformats.org/drawingml/2006/main">
          <a:srgbClr val="FAF9F6"/>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AF9F6"/>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FRR</c:v>
          </c:tx>
          <c:spPr>
            <a:solidFill xmlns:a="http://schemas.openxmlformats.org/drawingml/2006/main">
              <a:srgbClr val="167D86"/>
            </a:solidFill>
          </c:spPr>
          <c:invertIfNegative val="0"/>
          <c:cat>
            <c:strRef>
              <c:f>'Chart Data'!$A$2:$A$4</c:f>
              <c:strCache>
                <c:ptCount val="3"/>
                <c:pt idx="0">
                  <c:v>Naive</c:v>
                </c:pt>
                <c:pt idx="1">
                  <c:v>IPW</c:v>
                </c:pt>
                <c:pt idx="2">
                  <c:v>Offline oracle</c:v>
                </c:pt>
              </c:strCache>
            </c:strRef>
          </c:cat>
          <c:val>
            <c:numRef>
              <c:f>'Chart Data'!$B$2:$B$4</c:f>
              <c:numCache>
                <c:formatCode>0.0</c:formatCode>
                <c:ptCount val="3"/>
                <c:pt idx="0">
                  <c:v>2.49</c:v>
                </c:pt>
                <c:pt idx="1">
                  <c:v>20.33</c:v>
                </c:pt>
                <c:pt idx="2">
                  <c:v>20.15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crossAx val="48672768"/>
      </c:catAx>
      <c:valAx>
        <c:axId val="48672768"/>
        <c:scaling>
          <c:orientation val="minMax"/>
          <c:max val="25"/>
          <c:min val="0"/>
        </c:scaling>
        <c:delete val="0"/>
        <c:axPos val="l"/>
        <c:majorGridlines>
          <c:spPr>
            <a:ln xmlns:a="http://schemas.openxmlformats.org/drawingml/2006/main" w="4763">
              <a:solidFill>
                <a:srgbClr val="DDE1DF"/>
              </a:solidFill>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FRR (%)</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270"/>
                </a:solidFill>
                <a:latin typeface="Helvetica Neue"/>
                <a:ea typeface="Helvetica Neue"/>
                <a:cs typeface="Helvetica Neue"/>
              </a:defRPr>
            </a:pPr>
          </a:p>
        </c:txPr>
        <c:crossAx val="48650112"/>
        <c:crossBetween val="between"/>
      </c:valAx>
      <c:spPr>
        <a:solidFill xmlns:a="http://schemas.openxmlformats.org/drawingml/2006/main">
          <a:srgbClr val="FAF9F6"/>
        </a:solidFill>
      </c:spPr>
    </c:plotArea>
    <c:plotVisOnly val="1"/>
  </c:chart>
  <c:spPr>
    <a:solidFill xmlns:a="http://schemas.openxmlformats.org/drawingml/2006/main">
      <a:srgbClr val="FAF9F6"/>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Risk</c:v>
          </c:tx>
          <c:spPr>
            <a:solidFill xmlns:a="http://schemas.openxmlformats.org/drawingml/2006/main">
              <a:srgbClr val="B86B2D"/>
            </a:solidFill>
          </c:spPr>
          <c:invertIfNegative val="0"/>
          <c:cat>
            <c:strRef>
              <c:f>'Chart Data'!$A$2:$A$4</c:f>
              <c:strCache>
                <c:ptCount val="3"/>
                <c:pt idx="0">
                  <c:v>0%</c:v>
                </c:pt>
                <c:pt idx="1">
                  <c:v>5%</c:v>
                </c:pt>
                <c:pt idx="2">
                  <c:v>10%</c:v>
                </c:pt>
              </c:strCache>
            </c:strRef>
          </c:cat>
          <c:val>
            <c:numRef>
              <c:f>'Chart Data'!$B$2:$B$4</c:f>
              <c:numCache>
                <c:formatCode>0.0</c:formatCode>
                <c:ptCount val="3"/>
                <c:pt idx="0">
                  <c:v>4.79</c:v>
                </c:pt>
                <c:pt idx="1">
                  <c:v>4.99</c:v>
                </c:pt>
                <c:pt idx="2">
                  <c:v>5.18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B3A"/>
                </a:solidFill>
                <a:latin typeface="Helvetica Neue"/>
                <a:ea typeface="Helvetica Neue"/>
                <a:cs typeface="Helvetica Neue"/>
              </a:defRPr>
            </a:pPr>
          </a:p>
        </c:txPr>
        <c:crossAx val="48672768"/>
      </c:catAx>
      <c:valAx>
        <c:axId val="48672768"/>
        <c:scaling>
          <c:orientation val="minMax"/>
          <c:max val="6"/>
          <c:min val="0"/>
        </c:scaling>
        <c:delete val="0"/>
        <c:axPos val="l"/>
        <c:majorGridlines>
          <c:spPr>
            <a:ln xmlns:a="http://schemas.openxmlformats.org/drawingml/2006/main" w="4763">
              <a:solidFill>
                <a:srgbClr val="DDE1DF"/>
              </a:solidFill>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Approved risk (%)</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270"/>
                </a:solidFill>
                <a:latin typeface="Helvetica Neue"/>
                <a:ea typeface="Helvetica Neue"/>
                <a:cs typeface="Helvetica Neue"/>
              </a:defRPr>
            </a:pPr>
          </a:p>
        </c:txPr>
        <c:crossAx val="48650112"/>
        <c:crossBetween val="between"/>
      </c:valAx>
      <c:spPr>
        <a:solidFill xmlns:a="http://schemas.openxmlformats.org/drawingml/2006/main">
          <a:srgbClr val="FAF9F6"/>
        </a:solidFill>
      </c:spPr>
    </c:plotArea>
    <c:plotVisOnly val="1"/>
  </c:chart>
  <c:spPr>
    <a:solidFill xmlns:a="http://schemas.openxmlformats.org/drawingml/2006/main">
      <a:srgbClr val="FAF9F6"/>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B3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C92E2D-08E6-43E5-A798-8B61746D2770}"/>
              </a:ext>
            </a:extLst>
          </p:cNvPr>
          <p:cNvSpPr>
            <a:spLocks xmlns:a="http://schemas.openxmlformats.org/drawingml/2006/main" noGrp="1"/>
          </p:cNvSpPr>
          <p:nvPr/>
        </p:nvSpPr>
        <p:spPr>
          <a:xfrm xmlns:a="http://schemas.openxmlformats.org/drawingml/2006/main">
            <a:off x="723900" y="1466850"/>
            <a:ext cx="10715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defRPr>
            </a:defPPr>
            <a:lvl1pPr>
              <a:defRPr sz="4950" b="1">
                <a:solidFill>
                  <a:srgbClr val="FFFFFF"/>
                </a:solidFill>
              </a:defRPr>
            </a:lvl1pPr>
            <a:lvl2pPr>
              <a:defRPr sz="4950" b="1">
                <a:solidFill>
                  <a:srgbClr val="FFFFFF"/>
                </a:solidFill>
              </a:defRPr>
            </a:lvl2pPr>
            <a:lvl3pPr>
              <a:defRPr sz="4950" b="1">
                <a:solidFill>
                  <a:srgbClr val="FFFFFF"/>
                </a:solidFill>
              </a:defRPr>
            </a:lvl3pPr>
            <a:lvl4pPr>
              <a:defRPr sz="4950" b="1">
                <a:solidFill>
                  <a:srgbClr val="FFFFFF"/>
                </a:solidFill>
              </a:defRPr>
            </a:lvl4pPr>
            <a:lvl5pPr>
              <a:defRPr sz="4950" b="1">
                <a:solidFill>
                  <a:srgbClr val="FFFFFF"/>
                </a:solidFill>
              </a:defRPr>
            </a:lvl5pPr>
            <a:lvl6pPr>
              <a:defRPr sz="4950" b="1">
                <a:solidFill>
                  <a:srgbClr val="FFFFFF"/>
                </a:solidFill>
              </a:defRPr>
            </a:lvl6pPr>
            <a:lvl7pPr>
              <a:defRPr sz="4950" b="1">
                <a:solidFill>
                  <a:srgbClr val="FFFFFF"/>
                </a:solidFill>
              </a:defRPr>
            </a:lvl7pPr>
            <a:lvl8pPr>
              <a:defRPr sz="4950" b="1">
                <a:solidFill>
                  <a:srgbClr val="FFFFFF"/>
                </a:solidFill>
              </a:defRPr>
            </a:lvl8pPr>
            <a:lvl9pPr>
              <a:defRPr sz="4950" b="1">
                <a:solidFill>
                  <a:srgbClr val="FFFFFF"/>
                </a:solidFill>
              </a:defRPr>
            </a:lvl9pPr>
          </a:lstStyle>
          <a:p xmlns:a="http://schemas.openxmlformats.org/drawingml/2006/main">
            <a:pPr>
              <a:defRPr sz="4950" b="1">
                <a:solidFill>
                  <a:srgbClr val="FFFFFF"/>
                </a:solidFill>
              </a:defRPr>
            </a:pPr>
            <a:r>
              <a:rPr sz="4950" b="1">
                <a:solidFill>
                  <a:srgbClr val="FFFFFF"/>
                </a:solidFill>
                <a:latin typeface="Helvetica Neue"/>
                <a:ea typeface="Helvetica Neue"/>
                <a:cs typeface="Helvetica Neue"/>
              </a:rPr>
              <a:t>Algorithmic Discrimination</a:t>
            </a:r>
            <a:br>
              <a:rPr sz="4950" b="1">
                <a:solidFill>
                  <a:srgbClr val="FFFFFF"/>
                </a:solidFill>
                <a:latin typeface="Helvetica Neue"/>
                <a:ea typeface="Helvetica Neue"/>
                <a:cs typeface="Helvetica Neue"/>
              </a:rPr>
            </a:br>
            <a:r>
              <a:rPr sz="4950" b="1">
                <a:solidFill>
                  <a:srgbClr val="FFFFFF"/>
                </a:solidFill>
                <a:latin typeface="Helvetica Neue"/>
                <a:ea typeface="Helvetica Neue"/>
                <a:cs typeface="Helvetica Neue"/>
              </a:rPr>
              <a:t>in Credit Approval</a:t>
            </a:r>
          </a:p>
        </p:txBody>
      </p:sp>
      <p:sp>
        <p:nvSpPr>
          <p:cNvPr id="2" name="">
            <a:extLst xmlns:a="http://schemas.openxmlformats.org/drawingml/2006/main">
              <a:ext uri="{FF2B5EF4-FFF2-40B4-BE49-F238E27FC236}">
                <a16:creationId xmlns:a16="http://schemas.microsoft.com/office/drawing/2014/main" id="{F6E1B26E-B10D-44C8-AA5E-7B05D2205454}"/>
              </a:ext>
            </a:extLst>
          </p:cNvPr>
          <p:cNvSpPr>
            <a:spLocks xmlns:a="http://schemas.openxmlformats.org/drawingml/2006/main" noGrp="1"/>
          </p:cNvSpPr>
          <p:nvPr/>
        </p:nvSpPr>
        <p:spPr>
          <a:xfrm xmlns:a="http://schemas.openxmlformats.org/drawingml/2006/main">
            <a:off x="762000" y="39052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9ED4D3"/>
                </a:solidFill>
              </a:defRPr>
            </a:defPPr>
            <a:lvl1pPr>
              <a:defRPr sz="2400" b="0">
                <a:solidFill>
                  <a:srgbClr val="9ED4D3"/>
                </a:solidFill>
              </a:defRPr>
            </a:lvl1pPr>
            <a:lvl2pPr>
              <a:defRPr sz="2400" b="0">
                <a:solidFill>
                  <a:srgbClr val="9ED4D3"/>
                </a:solidFill>
              </a:defRPr>
            </a:lvl2pPr>
            <a:lvl3pPr>
              <a:defRPr sz="2400" b="0">
                <a:solidFill>
                  <a:srgbClr val="9ED4D3"/>
                </a:solidFill>
              </a:defRPr>
            </a:lvl3pPr>
            <a:lvl4pPr>
              <a:defRPr sz="2400" b="0">
                <a:solidFill>
                  <a:srgbClr val="9ED4D3"/>
                </a:solidFill>
              </a:defRPr>
            </a:lvl4pPr>
            <a:lvl5pPr>
              <a:defRPr sz="2400" b="0">
                <a:solidFill>
                  <a:srgbClr val="9ED4D3"/>
                </a:solidFill>
              </a:defRPr>
            </a:lvl5pPr>
            <a:lvl6pPr>
              <a:defRPr sz="2400" b="0">
                <a:solidFill>
                  <a:srgbClr val="9ED4D3"/>
                </a:solidFill>
              </a:defRPr>
            </a:lvl6pPr>
            <a:lvl7pPr>
              <a:defRPr sz="2400" b="0">
                <a:solidFill>
                  <a:srgbClr val="9ED4D3"/>
                </a:solidFill>
              </a:defRPr>
            </a:lvl7pPr>
            <a:lvl8pPr>
              <a:defRPr sz="2400" b="0">
                <a:solidFill>
                  <a:srgbClr val="9ED4D3"/>
                </a:solidFill>
              </a:defRPr>
            </a:lvl8pPr>
            <a:lvl9pPr>
              <a:defRPr sz="2400" b="0">
                <a:solidFill>
                  <a:srgbClr val="9ED4D3"/>
                </a:solidFill>
              </a:defRPr>
            </a:lvl9pPr>
          </a:lstStyle>
          <a:p xmlns:a="http://schemas.openxmlformats.org/drawingml/2006/main">
            <a:pPr>
              <a:defRPr sz="2400" b="0">
                <a:solidFill>
                  <a:srgbClr val="9ED4D3"/>
                </a:solidFill>
              </a:defRPr>
            </a:pPr>
            <a:r>
              <a:rPr sz="2400" b="0">
                <a:solidFill>
                  <a:srgbClr val="9ED4D3"/>
                </a:solidFill>
                <a:latin typeface="Helvetica Neue"/>
                <a:ea typeface="Helvetica Neue"/>
                <a:cs typeface="Helvetica Neue"/>
              </a:rPr>
              <a:t>Fairness interventions, costs, and reliable evaluation</a:t>
            </a:r>
          </a:p>
        </p:txBody>
      </p:sp>
      <p:sp>
        <p:nvSpPr>
          <p:cNvPr id="3" name="">
            <a:extLst xmlns:a="http://schemas.openxmlformats.org/drawingml/2006/main">
              <a:ext uri="{FF2B5EF4-FFF2-40B4-BE49-F238E27FC236}">
                <a16:creationId xmlns:a16="http://schemas.microsoft.com/office/drawing/2014/main" id="{0E74B342-B86B-459E-B75A-A86723BD339B}"/>
              </a:ext>
            </a:extLst>
          </p:cNvPr>
          <p:cNvSpPr>
            <a:spLocks xmlns:a="http://schemas.openxmlformats.org/drawingml/2006/main" noGrp="1"/>
          </p:cNvSpPr>
          <p:nvPr/>
        </p:nvSpPr>
        <p:spPr>
          <a:xfrm xmlns:a="http://schemas.openxmlformats.org/drawingml/2006/main">
            <a:off x="762000" y="547687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D4DFE4"/>
                </a:solidFill>
              </a:defRPr>
            </a:defPPr>
            <a:lvl1pPr>
              <a:defRPr sz="1650" b="0">
                <a:solidFill>
                  <a:srgbClr val="D4DFE4"/>
                </a:solidFill>
              </a:defRPr>
            </a:lvl1pPr>
            <a:lvl2pPr>
              <a:defRPr sz="1650" b="0">
                <a:solidFill>
                  <a:srgbClr val="D4DFE4"/>
                </a:solidFill>
              </a:defRPr>
            </a:lvl2pPr>
            <a:lvl3pPr>
              <a:defRPr sz="1650" b="0">
                <a:solidFill>
                  <a:srgbClr val="D4DFE4"/>
                </a:solidFill>
              </a:defRPr>
            </a:lvl3pPr>
            <a:lvl4pPr>
              <a:defRPr sz="1650" b="0">
                <a:solidFill>
                  <a:srgbClr val="D4DFE4"/>
                </a:solidFill>
              </a:defRPr>
            </a:lvl4pPr>
            <a:lvl5pPr>
              <a:defRPr sz="1650" b="0">
                <a:solidFill>
                  <a:srgbClr val="D4DFE4"/>
                </a:solidFill>
              </a:defRPr>
            </a:lvl5pPr>
            <a:lvl6pPr>
              <a:defRPr sz="1650" b="0">
                <a:solidFill>
                  <a:srgbClr val="D4DFE4"/>
                </a:solidFill>
              </a:defRPr>
            </a:lvl6pPr>
            <a:lvl7pPr>
              <a:defRPr sz="1650" b="0">
                <a:solidFill>
                  <a:srgbClr val="D4DFE4"/>
                </a:solidFill>
              </a:defRPr>
            </a:lvl7pPr>
            <a:lvl8pPr>
              <a:defRPr sz="1650" b="0">
                <a:solidFill>
                  <a:srgbClr val="D4DFE4"/>
                </a:solidFill>
              </a:defRPr>
            </a:lvl8pPr>
            <a:lvl9pPr>
              <a:defRPr sz="1650" b="0">
                <a:solidFill>
                  <a:srgbClr val="D4DFE4"/>
                </a:solidFill>
              </a:defRPr>
            </a:lvl9pPr>
          </a:lstStyle>
          <a:p xmlns:a="http://schemas.openxmlformats.org/drawingml/2006/main">
            <a:pPr>
              <a:defRPr sz="1650" b="0">
                <a:solidFill>
                  <a:srgbClr val="D4DFE4"/>
                </a:solidFill>
              </a:defRPr>
            </a:pPr>
            <a:r>
              <a:rPr sz="1650" b="0">
                <a:solidFill>
                  <a:srgbClr val="D4DFE4"/>
                </a:solidFill>
                <a:latin typeface="Helvetica Neue"/>
                <a:ea typeface="Helvetica Neue"/>
                <a:cs typeface="Helvetica Neue"/>
              </a:rPr>
              <a:t>Cloud Computing Course Project</a:t>
            </a:r>
            <a:br>
              <a:rPr sz="1650" b="0">
                <a:solidFill>
                  <a:srgbClr val="D4DFE4"/>
                </a:solidFill>
                <a:latin typeface="Helvetica Neue"/>
                <a:ea typeface="Helvetica Neue"/>
                <a:cs typeface="Helvetica Neue"/>
              </a:rPr>
            </a:br>
            <a:r>
              <a:rPr sz="1650" b="0">
                <a:solidFill>
                  <a:srgbClr val="D4DFE4"/>
                </a:solidFill>
                <a:latin typeface="Helvetica Neue"/>
                <a:ea typeface="Helvetica Neue"/>
                <a:cs typeface="Helvetica Neue"/>
              </a:rPr>
              <a:t>Home Credit historical replay. Local CPU validation</a:t>
            </a:r>
          </a:p>
        </p:txBody>
      </p:sp>
    </p:spTree>
    <p:extLst>
      <p:ext uri="{BB962C8B-B14F-4D97-AF65-F5344CB8AC3E}">
        <p14:creationId xmlns:p14="http://schemas.microsoft.com/office/powerpoint/2010/main" val="1915073475"/>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5C61A6-1AB8-4526-B682-3A7252271486}"/>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Background and Fairness Challenges</a:t>
            </a:r>
          </a:p>
        </p:txBody>
      </p:sp>
      <p:sp>
        <p:nvSpPr>
          <p:cNvPr id="2" name="">
            <a:extLst xmlns:a="http://schemas.openxmlformats.org/drawingml/2006/main">
              <a:ext uri="{FF2B5EF4-FFF2-40B4-BE49-F238E27FC236}">
                <a16:creationId xmlns:a16="http://schemas.microsoft.com/office/drawing/2014/main" id="{65AAA7F8-7E35-49B8-8DE5-FF5F495320DC}"/>
              </a:ext>
            </a:extLst>
          </p:cNvPr>
          <p:cNvSpPr>
            <a:spLocks xmlns:a="http://schemas.openxmlformats.org/drawingml/2006/main" noGrp="1"/>
          </p:cNvSpPr>
          <p:nvPr/>
        </p:nvSpPr>
        <p:spPr>
          <a:xfrm xmlns:a="http://schemas.openxmlformats.org/drawingml/2006/main">
            <a:off x="609600" y="11430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67D86"/>
                </a:solidFill>
              </a:defRPr>
            </a:defPPr>
            <a:lvl1pPr>
              <a:defRPr sz="1575" b="1">
                <a:solidFill>
                  <a:srgbClr val="167D86"/>
                </a:solidFill>
              </a:defRPr>
            </a:lvl1pPr>
            <a:lvl2pPr>
              <a:defRPr sz="1575" b="1">
                <a:solidFill>
                  <a:srgbClr val="167D86"/>
                </a:solidFill>
              </a:defRPr>
            </a:lvl2pPr>
            <a:lvl3pPr>
              <a:defRPr sz="1575" b="1">
                <a:solidFill>
                  <a:srgbClr val="167D86"/>
                </a:solidFill>
              </a:defRPr>
            </a:lvl3pPr>
            <a:lvl4pPr>
              <a:defRPr sz="1575" b="1">
                <a:solidFill>
                  <a:srgbClr val="167D86"/>
                </a:solidFill>
              </a:defRPr>
            </a:lvl4pPr>
            <a:lvl5pPr>
              <a:defRPr sz="1575" b="1">
                <a:solidFill>
                  <a:srgbClr val="167D86"/>
                </a:solidFill>
              </a:defRPr>
            </a:lvl5pPr>
            <a:lvl6pPr>
              <a:defRPr sz="1575" b="1">
                <a:solidFill>
                  <a:srgbClr val="167D86"/>
                </a:solidFill>
              </a:defRPr>
            </a:lvl6pPr>
            <a:lvl7pPr>
              <a:defRPr sz="1575" b="1">
                <a:solidFill>
                  <a:srgbClr val="167D86"/>
                </a:solidFill>
              </a:defRPr>
            </a:lvl7pPr>
            <a:lvl8pPr>
              <a:defRPr sz="1575" b="1">
                <a:solidFill>
                  <a:srgbClr val="167D86"/>
                </a:solidFill>
              </a:defRPr>
            </a:lvl8pPr>
            <a:lvl9pPr>
              <a:defRPr sz="1575" b="1">
                <a:solidFill>
                  <a:srgbClr val="167D86"/>
                </a:solidFill>
              </a:defRPr>
            </a:lvl9pPr>
          </a:lstStyle>
          <a:p xmlns:a="http://schemas.openxmlformats.org/drawingml/2006/main">
            <a:pPr>
              <a:defRPr sz="1575" b="1">
                <a:solidFill>
                  <a:srgbClr val="167D86"/>
                </a:solidFill>
              </a:defRPr>
            </a:pPr>
            <a:r>
              <a:rPr sz="1575" b="1">
                <a:solidFill>
                  <a:srgbClr val="167D86"/>
                </a:solidFill>
                <a:latin typeface="Helvetica Neue"/>
                <a:ea typeface="Helvetica Neue"/>
                <a:cs typeface="Helvetica Neue"/>
              </a:rPr>
              <a:t>Part 1: Background and Current State of Research</a:t>
            </a:r>
          </a:p>
        </p:txBody>
      </p:sp>
      <p:sp>
        <p:nvSpPr>
          <p:cNvPr id="3" name="">
            <a:extLst xmlns:a="http://schemas.openxmlformats.org/drawingml/2006/main">
              <a:ext uri="{FF2B5EF4-FFF2-40B4-BE49-F238E27FC236}">
                <a16:creationId xmlns:a16="http://schemas.microsoft.com/office/drawing/2014/main" id="{8A520A23-DCE5-4A0B-BF4D-F043194CD611}"/>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2 / 8</a:t>
            </a:r>
          </a:p>
        </p:txBody>
      </p:sp>
      <p:sp>
        <p:nvSpPr>
          <p:cNvPr id="4" name="">
            <a:extLst xmlns:a="http://schemas.openxmlformats.org/drawingml/2006/main">
              <a:ext uri="{FF2B5EF4-FFF2-40B4-BE49-F238E27FC236}">
                <a16:creationId xmlns:a16="http://schemas.microsoft.com/office/drawing/2014/main" id="{D0D0D9E3-F1AA-420A-9973-8D6BCBBCC6AF}"/>
              </a:ext>
            </a:extLst>
          </p:cNvPr>
          <p:cNvSpPr>
            <a:spLocks xmlns:a="http://schemas.openxmlformats.org/drawingml/2006/main" noGrp="1"/>
          </p:cNvSpPr>
          <p:nvPr/>
        </p:nvSpPr>
        <p:spPr>
          <a:xfrm xmlns:a="http://schemas.openxmlformats.org/drawingml/2006/main">
            <a:off x="609600" y="176212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B3A"/>
                </a:solidFill>
              </a:defRPr>
            </a:defPPr>
            <a:lvl1pPr>
              <a:defRPr sz="2400" b="1">
                <a:solidFill>
                  <a:srgbClr val="172B3A"/>
                </a:solidFill>
              </a:defRPr>
            </a:lvl1pPr>
            <a:lvl2pPr>
              <a:defRPr sz="2400" b="1">
                <a:solidFill>
                  <a:srgbClr val="172B3A"/>
                </a:solidFill>
              </a:defRPr>
            </a:lvl2pPr>
            <a:lvl3pPr>
              <a:defRPr sz="2400" b="1">
                <a:solidFill>
                  <a:srgbClr val="172B3A"/>
                </a:solidFill>
              </a:defRPr>
            </a:lvl3pPr>
            <a:lvl4pPr>
              <a:defRPr sz="2400" b="1">
                <a:solidFill>
                  <a:srgbClr val="172B3A"/>
                </a:solidFill>
              </a:defRPr>
            </a:lvl4pPr>
            <a:lvl5pPr>
              <a:defRPr sz="2400" b="1">
                <a:solidFill>
                  <a:srgbClr val="172B3A"/>
                </a:solidFill>
              </a:defRPr>
            </a:lvl5pPr>
            <a:lvl6pPr>
              <a:defRPr sz="2400" b="1">
                <a:solidFill>
                  <a:srgbClr val="172B3A"/>
                </a:solidFill>
              </a:defRPr>
            </a:lvl6pPr>
            <a:lvl7pPr>
              <a:defRPr sz="2400" b="1">
                <a:solidFill>
                  <a:srgbClr val="172B3A"/>
                </a:solidFill>
              </a:defRPr>
            </a:lvl7pPr>
            <a:lvl8pPr>
              <a:defRPr sz="2400" b="1">
                <a:solidFill>
                  <a:srgbClr val="172B3A"/>
                </a:solidFill>
              </a:defRPr>
            </a:lvl8pPr>
            <a:lvl9pPr>
              <a:defRPr sz="2400" b="1">
                <a:solidFill>
                  <a:srgbClr val="172B3A"/>
                </a:solidFill>
              </a:defRPr>
            </a:lvl9pPr>
          </a:lstStyle>
          <a:p xmlns:a="http://schemas.openxmlformats.org/drawingml/2006/main">
            <a:pPr>
              <a:defRPr sz="2400" b="1">
                <a:solidFill>
                  <a:srgbClr val="172B3A"/>
                </a:solidFill>
              </a:defRPr>
            </a:pPr>
            <a:r>
              <a:rPr sz="2400" b="1">
                <a:solidFill>
                  <a:srgbClr val="172B3A"/>
                </a:solidFill>
                <a:latin typeface="Helvetica Neue"/>
                <a:ea typeface="Helvetica Neue"/>
                <a:cs typeface="Helvetica Neue"/>
              </a:rPr>
              <a:t>Opportunity depends on the decision rule</a:t>
            </a:r>
          </a:p>
        </p:txBody>
      </p:sp>
      <p:sp>
        <p:nvSpPr>
          <p:cNvPr id="5" name="">
            <a:extLst xmlns:a="http://schemas.openxmlformats.org/drawingml/2006/main">
              <a:ext uri="{FF2B5EF4-FFF2-40B4-BE49-F238E27FC236}">
                <a16:creationId xmlns:a16="http://schemas.microsoft.com/office/drawing/2014/main" id="{15E36E55-B5DD-436E-93FC-DDFCA448A341}"/>
              </a:ext>
            </a:extLst>
          </p:cNvPr>
          <p:cNvSpPr>
            <a:spLocks xmlns:a="http://schemas.openxmlformats.org/drawingml/2006/main" noGrp="1"/>
          </p:cNvSpPr>
          <p:nvPr/>
        </p:nvSpPr>
        <p:spPr>
          <a:xfrm xmlns:a="http://schemas.openxmlformats.org/drawingml/2006/main">
            <a:off x="609600" y="2524125"/>
            <a:ext cx="63341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B3A"/>
                </a:solidFill>
              </a:defRPr>
            </a:defPPr>
            <a:lvl1pPr>
              <a:defRPr sz="2025" b="0">
                <a:solidFill>
                  <a:srgbClr val="172B3A"/>
                </a:solidFill>
              </a:defRPr>
            </a:lvl1pPr>
            <a:lvl2pPr>
              <a:defRPr sz="2025" b="0">
                <a:solidFill>
                  <a:srgbClr val="172B3A"/>
                </a:solidFill>
              </a:defRPr>
            </a:lvl2pPr>
            <a:lvl3pPr>
              <a:defRPr sz="2025" b="0">
                <a:solidFill>
                  <a:srgbClr val="172B3A"/>
                </a:solidFill>
              </a:defRPr>
            </a:lvl3pPr>
            <a:lvl4pPr>
              <a:defRPr sz="2025" b="0">
                <a:solidFill>
                  <a:srgbClr val="172B3A"/>
                </a:solidFill>
              </a:defRPr>
            </a:lvl4pPr>
            <a:lvl5pPr>
              <a:defRPr sz="2025" b="0">
                <a:solidFill>
                  <a:srgbClr val="172B3A"/>
                </a:solidFill>
              </a:defRPr>
            </a:lvl5pPr>
            <a:lvl6pPr>
              <a:defRPr sz="2025" b="0">
                <a:solidFill>
                  <a:srgbClr val="172B3A"/>
                </a:solidFill>
              </a:defRPr>
            </a:lvl6pPr>
            <a:lvl7pPr>
              <a:defRPr sz="2025" b="0">
                <a:solidFill>
                  <a:srgbClr val="172B3A"/>
                </a:solidFill>
              </a:defRPr>
            </a:lvl7pPr>
            <a:lvl8pPr>
              <a:defRPr sz="2025" b="0">
                <a:solidFill>
                  <a:srgbClr val="172B3A"/>
                </a:solidFill>
              </a:defRPr>
            </a:lvl8pPr>
            <a:lvl9pPr>
              <a:defRPr sz="2025" b="0">
                <a:solidFill>
                  <a:srgbClr val="172B3A"/>
                </a:solidFill>
              </a:defRPr>
            </a:lvl9pPr>
          </a:lstStyle>
          <a:p xmlns:a="http://schemas.openxmlformats.org/drawingml/2006/main">
            <a:pPr>
              <a:defRPr sz="2025" b="0">
                <a:solidFill>
                  <a:srgbClr val="172B3A"/>
                </a:solidFill>
              </a:defRPr>
            </a:pPr>
            <a:r>
              <a:rPr sz="2025" b="0">
                <a:solidFill>
                  <a:srgbClr val="172B3A"/>
                </a:solidFill>
                <a:latin typeface="Helvetica Neue"/>
                <a:ea typeface="Helvetica Neue"/>
                <a:cs typeface="Helvetica Neue"/>
              </a:rPr>
              <a:t>FRR = P(reject | TARGET = 0, group)</a:t>
            </a:r>
            <a:br>
              <a:rPr sz="2025" b="0">
                <a:solidFill>
                  <a:srgbClr val="172B3A"/>
                </a:solidFill>
                <a:latin typeface="Helvetica Neue"/>
                <a:ea typeface="Helvetica Neue"/>
                <a:cs typeface="Helvetica Neue"/>
              </a:rPr>
            </a:br>
            <a:br>
              <a:rPr sz="2025" b="0">
                <a:solidFill>
                  <a:srgbClr val="172B3A"/>
                </a:solidFill>
                <a:latin typeface="Helvetica Neue"/>
                <a:ea typeface="Helvetica Neue"/>
                <a:cs typeface="Helvetica Neue"/>
              </a:rPr>
            </a:br>
            <a:r>
              <a:rPr sz="2025" b="0">
                <a:solidFill>
                  <a:srgbClr val="172B3A"/>
                </a:solidFill>
                <a:latin typeface="Helvetica Neue"/>
                <a:ea typeface="Helvetica Neue"/>
                <a:cs typeface="Helvetica Neue"/>
              </a:rPr>
              <a:t>Thin: 0–1 observable bureau records</a:t>
            </a:r>
            <a:br>
              <a:rPr sz="2025" b="0">
                <a:solidFill>
                  <a:srgbClr val="172B3A"/>
                </a:solidFill>
                <a:latin typeface="Helvetica Neue"/>
                <a:ea typeface="Helvetica Neue"/>
                <a:cs typeface="Helvetica Neue"/>
              </a:rPr>
            </a:br>
            <a:r>
              <a:rPr sz="2025" b="0">
                <a:solidFill>
                  <a:srgbClr val="172B3A"/>
                </a:solidFill>
                <a:latin typeface="Helvetica Neue"/>
                <a:ea typeface="Helvetica Neue"/>
                <a:cs typeface="Helvetica Neue"/>
              </a:rPr>
              <a:t>Comparison: at least 2 records</a:t>
            </a:r>
            <a:br>
              <a:rPr sz="2025" b="0">
                <a:solidFill>
                  <a:srgbClr val="172B3A"/>
                </a:solidFill>
                <a:latin typeface="Helvetica Neue"/>
                <a:ea typeface="Helvetica Neue"/>
                <a:cs typeface="Helvetica Neue"/>
              </a:rPr>
            </a:br>
            <a:br>
              <a:rPr sz="2025" b="0">
                <a:solidFill>
                  <a:srgbClr val="172B3A"/>
                </a:solidFill>
                <a:latin typeface="Helvetica Neue"/>
                <a:ea typeface="Helvetica Neue"/>
                <a:cs typeface="Helvetica Neue"/>
              </a:rPr>
            </a:br>
            <a:r>
              <a:rPr sz="2025" b="0">
                <a:solidFill>
                  <a:srgbClr val="172B3A"/>
                </a:solidFill>
                <a:latin typeface="Helvetica Neue"/>
                <a:ea typeface="Helvetica Neue"/>
                <a:cs typeface="Helvetica Neue"/>
              </a:rPr>
              <a:t>TARGET = 1: historical repayment difficulties</a:t>
            </a:r>
            <a:br>
              <a:rPr sz="2025" b="0">
                <a:solidFill>
                  <a:srgbClr val="172B3A"/>
                </a:solidFill>
                <a:latin typeface="Helvetica Neue"/>
                <a:ea typeface="Helvetica Neue"/>
                <a:cs typeface="Helvetica Neue"/>
              </a:rPr>
            </a:br>
            <a:r>
              <a:rPr sz="2025" b="0">
                <a:solidFill>
                  <a:srgbClr val="172B3A"/>
                </a:solidFill>
                <a:latin typeface="Helvetica Neue"/>
                <a:ea typeface="Helvetica Neue"/>
                <a:cs typeface="Helvetica Neue"/>
              </a:rPr>
              <a:t>TARGET = 0: historical normal label</a:t>
            </a:r>
          </a:p>
        </p:txBody>
      </p:sp>
      <p:sp>
        <p:nvSpPr>
          <p:cNvPr id="6" name="">
            <a:extLst xmlns:a="http://schemas.openxmlformats.org/drawingml/2006/main">
              <a:ext uri="{FF2B5EF4-FFF2-40B4-BE49-F238E27FC236}">
                <a16:creationId xmlns:a16="http://schemas.microsoft.com/office/drawing/2014/main" id="{589B663F-E5E1-43AB-8D99-AA33F1146627}"/>
              </a:ext>
            </a:extLst>
          </p:cNvPr>
          <p:cNvSpPr>
            <a:spLocks xmlns:a="http://schemas.openxmlformats.org/drawingml/2006/main" noGrp="1"/>
          </p:cNvSpPr>
          <p:nvPr/>
        </p:nvSpPr>
        <p:spPr>
          <a:xfrm xmlns:a="http://schemas.openxmlformats.org/drawingml/2006/main">
            <a:off x="7762875" y="1724025"/>
            <a:ext cx="371475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D86"/>
                </a:solidFill>
              </a:defRPr>
            </a:defPPr>
            <a:lvl1pPr>
              <a:defRPr sz="2100" b="1">
                <a:solidFill>
                  <a:srgbClr val="167D86"/>
                </a:solidFill>
              </a:defRPr>
            </a:lvl1pPr>
            <a:lvl2pPr>
              <a:defRPr sz="2100" b="1">
                <a:solidFill>
                  <a:srgbClr val="167D86"/>
                </a:solidFill>
              </a:defRPr>
            </a:lvl2pPr>
            <a:lvl3pPr>
              <a:defRPr sz="2100" b="1">
                <a:solidFill>
                  <a:srgbClr val="167D86"/>
                </a:solidFill>
              </a:defRPr>
            </a:lvl3pPr>
            <a:lvl4pPr>
              <a:defRPr sz="2100" b="1">
                <a:solidFill>
                  <a:srgbClr val="167D86"/>
                </a:solidFill>
              </a:defRPr>
            </a:lvl4pPr>
            <a:lvl5pPr>
              <a:defRPr sz="2100" b="1">
                <a:solidFill>
                  <a:srgbClr val="167D86"/>
                </a:solidFill>
              </a:defRPr>
            </a:lvl5pPr>
            <a:lvl6pPr>
              <a:defRPr sz="2100" b="1">
                <a:solidFill>
                  <a:srgbClr val="167D86"/>
                </a:solidFill>
              </a:defRPr>
            </a:lvl6pPr>
            <a:lvl7pPr>
              <a:defRPr sz="2100" b="1">
                <a:solidFill>
                  <a:srgbClr val="167D86"/>
                </a:solidFill>
              </a:defRPr>
            </a:lvl7pPr>
            <a:lvl8pPr>
              <a:defRPr sz="2100" b="1">
                <a:solidFill>
                  <a:srgbClr val="167D86"/>
                </a:solidFill>
              </a:defRPr>
            </a:lvl8pPr>
            <a:lvl9pPr>
              <a:defRPr sz="2100" b="1">
                <a:solidFill>
                  <a:srgbClr val="167D86"/>
                </a:solidFill>
              </a:defRPr>
            </a:lvl9pPr>
          </a:lstStyle>
          <a:p xmlns:a="http://schemas.openxmlformats.org/drawingml/2006/main">
            <a:pPr>
              <a:defRPr sz="2100" b="1">
                <a:solidFill>
                  <a:srgbClr val="167D86"/>
                </a:solidFill>
              </a:defRPr>
            </a:pPr>
            <a:r>
              <a:rPr sz="2100" b="1">
                <a:solidFill>
                  <a:srgbClr val="167D86"/>
                </a:solidFill>
                <a:latin typeface="Helvetica Neue"/>
                <a:ea typeface="Helvetica Neue"/>
                <a:cs typeface="Helvetica Neue"/>
              </a:rPr>
              <a:t>Data collection</a:t>
            </a:r>
            <a:br>
              <a:rPr sz="2100" b="1">
                <a:solidFill>
                  <a:srgbClr val="167D86"/>
                </a:solidFill>
                <a:latin typeface="Helvetica Neue"/>
                <a:ea typeface="Helvetica Neue"/>
                <a:cs typeface="Helvetica Neue"/>
              </a:rPr>
            </a:br>
            <a:br>
              <a:rPr sz="2100" b="1">
                <a:solidFill>
                  <a:srgbClr val="167D86"/>
                </a:solidFill>
                <a:latin typeface="Helvetica Neue"/>
                <a:ea typeface="Helvetica Neue"/>
                <a:cs typeface="Helvetica Neue"/>
              </a:rPr>
            </a:br>
            <a:r>
              <a:rPr sz="2100" b="1">
                <a:solidFill>
                  <a:srgbClr val="167D86"/>
                </a:solidFill>
                <a:latin typeface="Helvetica Neue"/>
                <a:ea typeface="Helvetica Neue"/>
                <a:cs typeface="Helvetica Neue"/>
              </a:rPr>
              <a:t>Data processing</a:t>
            </a:r>
            <a:br>
              <a:rPr sz="2100" b="1">
                <a:solidFill>
                  <a:srgbClr val="167D86"/>
                </a:solidFill>
                <a:latin typeface="Helvetica Neue"/>
                <a:ea typeface="Helvetica Neue"/>
                <a:cs typeface="Helvetica Neue"/>
              </a:rPr>
            </a:br>
            <a:br>
              <a:rPr sz="2100" b="1">
                <a:solidFill>
                  <a:srgbClr val="167D86"/>
                </a:solidFill>
                <a:latin typeface="Helvetica Neue"/>
                <a:ea typeface="Helvetica Neue"/>
                <a:cs typeface="Helvetica Neue"/>
              </a:rPr>
            </a:br>
            <a:r>
              <a:rPr sz="2100" b="1">
                <a:solidFill>
                  <a:srgbClr val="167D86"/>
                </a:solidFill>
                <a:latin typeface="Helvetica Neue"/>
                <a:ea typeface="Helvetica Neue"/>
                <a:cs typeface="Helvetica Neue"/>
              </a:rPr>
              <a:t>Model training</a:t>
            </a:r>
            <a:br>
              <a:rPr sz="2100" b="1">
                <a:solidFill>
                  <a:srgbClr val="167D86"/>
                </a:solidFill>
                <a:latin typeface="Helvetica Neue"/>
                <a:ea typeface="Helvetica Neue"/>
                <a:cs typeface="Helvetica Neue"/>
              </a:rPr>
            </a:br>
            <a:br>
              <a:rPr sz="2100" b="1">
                <a:solidFill>
                  <a:srgbClr val="167D86"/>
                </a:solidFill>
                <a:latin typeface="Helvetica Neue"/>
                <a:ea typeface="Helvetica Neue"/>
                <a:cs typeface="Helvetica Neue"/>
              </a:rPr>
            </a:br>
            <a:r>
              <a:rPr sz="2100" b="1">
                <a:solidFill>
                  <a:srgbClr val="167D86"/>
                </a:solidFill>
                <a:latin typeface="Helvetica Neue"/>
                <a:ea typeface="Helvetica Neue"/>
                <a:cs typeface="Helvetica Neue"/>
              </a:rPr>
              <a:t>Fairness-aware decision</a:t>
            </a:r>
            <a:br>
              <a:rPr sz="2100" b="1">
                <a:solidFill>
                  <a:srgbClr val="167D86"/>
                </a:solidFill>
                <a:latin typeface="Helvetica Neue"/>
                <a:ea typeface="Helvetica Neue"/>
                <a:cs typeface="Helvetica Neue"/>
              </a:rPr>
            </a:br>
            <a:br>
              <a:rPr sz="2100" b="1">
                <a:solidFill>
                  <a:srgbClr val="167D86"/>
                </a:solidFill>
                <a:latin typeface="Helvetica Neue"/>
                <a:ea typeface="Helvetica Neue"/>
                <a:cs typeface="Helvetica Neue"/>
              </a:rPr>
            </a:br>
            <a:r>
              <a:rPr sz="2100" b="1">
                <a:solidFill>
                  <a:srgbClr val="167D86"/>
                </a:solidFill>
                <a:latin typeface="Helvetica Neue"/>
                <a:ea typeface="Helvetica Neue"/>
                <a:cs typeface="Helvetica Neue"/>
              </a:rPr>
              <a:t>Feedback monitoring</a:t>
            </a:r>
          </a:p>
        </p:txBody>
      </p:sp>
      <p:sp>
        <p:nvSpPr>
          <p:cNvPr id="7" name="">
            <a:extLst xmlns:a="http://schemas.openxmlformats.org/drawingml/2006/main">
              <a:ext uri="{FF2B5EF4-FFF2-40B4-BE49-F238E27FC236}">
                <a16:creationId xmlns:a16="http://schemas.microsoft.com/office/drawing/2014/main" id="{1A17D821-F05A-4A50-8501-C7177BC3590A}"/>
              </a:ext>
            </a:extLst>
          </p:cNvPr>
          <p:cNvSpPr>
            <a:spLocks xmlns:a="http://schemas.openxmlformats.org/drawingml/2006/main" noGrp="1"/>
          </p:cNvSpPr>
          <p:nvPr/>
        </p:nvSpPr>
        <p:spPr>
          <a:xfrm xmlns:a="http://schemas.openxmlformats.org/drawingml/2006/main">
            <a:off x="6096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86B2D"/>
                </a:solidFill>
              </a:defRPr>
            </a:defPPr>
            <a:lvl1pPr>
              <a:defRPr sz="1725" b="0">
                <a:solidFill>
                  <a:srgbClr val="B86B2D"/>
                </a:solidFill>
              </a:defRPr>
            </a:lvl1pPr>
            <a:lvl2pPr>
              <a:defRPr sz="1725" b="0">
                <a:solidFill>
                  <a:srgbClr val="B86B2D"/>
                </a:solidFill>
              </a:defRPr>
            </a:lvl2pPr>
            <a:lvl3pPr>
              <a:defRPr sz="1725" b="0">
                <a:solidFill>
                  <a:srgbClr val="B86B2D"/>
                </a:solidFill>
              </a:defRPr>
            </a:lvl3pPr>
            <a:lvl4pPr>
              <a:defRPr sz="1725" b="0">
                <a:solidFill>
                  <a:srgbClr val="B86B2D"/>
                </a:solidFill>
              </a:defRPr>
            </a:lvl4pPr>
            <a:lvl5pPr>
              <a:defRPr sz="1725" b="0">
                <a:solidFill>
                  <a:srgbClr val="B86B2D"/>
                </a:solidFill>
              </a:defRPr>
            </a:lvl5pPr>
            <a:lvl6pPr>
              <a:defRPr sz="1725" b="0">
                <a:solidFill>
                  <a:srgbClr val="B86B2D"/>
                </a:solidFill>
              </a:defRPr>
            </a:lvl6pPr>
            <a:lvl7pPr>
              <a:defRPr sz="1725" b="0">
                <a:solidFill>
                  <a:srgbClr val="B86B2D"/>
                </a:solidFill>
              </a:defRPr>
            </a:lvl7pPr>
            <a:lvl8pPr>
              <a:defRPr sz="1725" b="0">
                <a:solidFill>
                  <a:srgbClr val="B86B2D"/>
                </a:solidFill>
              </a:defRPr>
            </a:lvl8pPr>
            <a:lvl9pPr>
              <a:defRPr sz="1725" b="0">
                <a:solidFill>
                  <a:srgbClr val="B86B2D"/>
                </a:solidFill>
              </a:defRPr>
            </a:lvl9pPr>
          </a:lstStyle>
          <a:p xmlns:a="http://schemas.openxmlformats.org/drawingml/2006/main">
            <a:pPr>
              <a:defRPr sz="1725" b="0">
                <a:solidFill>
                  <a:srgbClr val="B86B2D"/>
                </a:solidFill>
              </a:defRPr>
            </a:pPr>
            <a:r>
              <a:rPr sz="1725" b="0">
                <a:solidFill>
                  <a:srgbClr val="B86B2D"/>
                </a:solidFill>
                <a:latin typeface="Helvetica Neue"/>
                <a:ea typeface="Helvetica Neue"/>
                <a:cs typeface="Helvetica Neue"/>
              </a:rPr>
              <a:t>A small group gap can hide harm. Observed labels can hide bias.</a:t>
            </a:r>
          </a:p>
        </p:txBody>
      </p:sp>
    </p:spTree>
    <p:extLst>
      <p:ext uri="{BB962C8B-B14F-4D97-AF65-F5344CB8AC3E}">
        <p14:creationId xmlns:p14="http://schemas.microsoft.com/office/powerpoint/2010/main" val="1021304903"/>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BA2966-B06F-4825-9155-CF4EEB9AB08F}"/>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Related Work and Research Gaps</a:t>
            </a:r>
          </a:p>
        </p:txBody>
      </p:sp>
      <p:sp>
        <p:nvSpPr>
          <p:cNvPr id="2" name="">
            <a:extLst xmlns:a="http://schemas.openxmlformats.org/drawingml/2006/main">
              <a:ext uri="{FF2B5EF4-FFF2-40B4-BE49-F238E27FC236}">
                <a16:creationId xmlns:a16="http://schemas.microsoft.com/office/drawing/2014/main" id="{6358C238-EBC2-4924-AA3A-EBF69FA81284}"/>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3 / 8</a:t>
            </a:r>
          </a:p>
        </p:txBody>
      </p:sp>
      <p:sp>
        <p:nvSpPr>
          <p:cNvPr id="3" name="">
            <a:extLst xmlns:a="http://schemas.openxmlformats.org/drawingml/2006/main">
              <a:ext uri="{FF2B5EF4-FFF2-40B4-BE49-F238E27FC236}">
                <a16:creationId xmlns:a16="http://schemas.microsoft.com/office/drawing/2014/main" id="{137CE65F-9636-4394-858F-E532A7C19F57}"/>
              </a:ext>
            </a:extLst>
          </p:cNvPr>
          <p:cNvSpPr>
            <a:spLocks xmlns:a="http://schemas.openxmlformats.org/drawingml/2006/main" noGrp="1"/>
          </p:cNvSpPr>
          <p:nvPr/>
        </p:nvSpPr>
        <p:spPr>
          <a:xfrm xmlns:a="http://schemas.openxmlformats.org/drawingml/2006/main">
            <a:off x="609600" y="1581150"/>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D86"/>
                </a:solidFill>
              </a:defRPr>
            </a:defPPr>
            <a:lvl1pPr>
              <a:defRPr sz="2175" b="1">
                <a:solidFill>
                  <a:srgbClr val="167D86"/>
                </a:solidFill>
              </a:defRPr>
            </a:lvl1pPr>
            <a:lvl2pPr>
              <a:defRPr sz="2175" b="1">
                <a:solidFill>
                  <a:srgbClr val="167D86"/>
                </a:solidFill>
              </a:defRPr>
            </a:lvl2pPr>
            <a:lvl3pPr>
              <a:defRPr sz="2175" b="1">
                <a:solidFill>
                  <a:srgbClr val="167D86"/>
                </a:solidFill>
              </a:defRPr>
            </a:lvl3pPr>
            <a:lvl4pPr>
              <a:defRPr sz="2175" b="1">
                <a:solidFill>
                  <a:srgbClr val="167D86"/>
                </a:solidFill>
              </a:defRPr>
            </a:lvl4pPr>
            <a:lvl5pPr>
              <a:defRPr sz="2175" b="1">
                <a:solidFill>
                  <a:srgbClr val="167D86"/>
                </a:solidFill>
              </a:defRPr>
            </a:lvl5pPr>
            <a:lvl6pPr>
              <a:defRPr sz="2175" b="1">
                <a:solidFill>
                  <a:srgbClr val="167D86"/>
                </a:solidFill>
              </a:defRPr>
            </a:lvl6pPr>
            <a:lvl7pPr>
              <a:defRPr sz="2175" b="1">
                <a:solidFill>
                  <a:srgbClr val="167D86"/>
                </a:solidFill>
              </a:defRPr>
            </a:lvl7pPr>
            <a:lvl8pPr>
              <a:defRPr sz="2175" b="1">
                <a:solidFill>
                  <a:srgbClr val="167D86"/>
                </a:solidFill>
              </a:defRPr>
            </a:lvl8pPr>
            <a:lvl9pPr>
              <a:defRPr sz="2175" b="1">
                <a:solidFill>
                  <a:srgbClr val="167D86"/>
                </a:solidFill>
              </a:defRPr>
            </a:lvl9pPr>
          </a:lstStyle>
          <a:p xmlns:a="http://schemas.openxmlformats.org/drawingml/2006/main">
            <a:pPr>
              <a:defRPr sz="2175" b="1">
                <a:solidFill>
                  <a:srgbClr val="167D86"/>
                </a:solidFill>
              </a:defRPr>
            </a:pPr>
            <a:r>
              <a:rPr sz="2175" b="1">
                <a:solidFill>
                  <a:srgbClr val="167D86"/>
                </a:solidFill>
                <a:latin typeface="Helvetica Neue"/>
                <a:ea typeface="Helvetica Neue"/>
                <a:cs typeface="Helvetica Neue"/>
              </a:rPr>
              <a:t>Decisions and constraints</a:t>
            </a:r>
          </a:p>
        </p:txBody>
      </p:sp>
      <p:sp>
        <p:nvSpPr>
          <p:cNvPr id="4" name="">
            <a:extLst xmlns:a="http://schemas.openxmlformats.org/drawingml/2006/main">
              <a:ext uri="{FF2B5EF4-FFF2-40B4-BE49-F238E27FC236}">
                <a16:creationId xmlns:a16="http://schemas.microsoft.com/office/drawing/2014/main" id="{87E5AD37-0015-499B-9CB6-CEA22248F884}"/>
              </a:ext>
            </a:extLst>
          </p:cNvPr>
          <p:cNvSpPr>
            <a:spLocks xmlns:a="http://schemas.openxmlformats.org/drawingml/2006/main" noGrp="1"/>
          </p:cNvSpPr>
          <p:nvPr/>
        </p:nvSpPr>
        <p:spPr>
          <a:xfrm xmlns:a="http://schemas.openxmlformats.org/drawingml/2006/main">
            <a:off x="609600" y="2133600"/>
            <a:ext cx="5286375"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defRPr>
            </a:defPPr>
            <a:lvl1pPr>
              <a:defRPr sz="1950" b="0">
                <a:solidFill>
                  <a:srgbClr val="172B3A"/>
                </a:solidFill>
              </a:defRPr>
            </a:lvl1pPr>
            <a:lvl2pPr>
              <a:defRPr sz="1950" b="0">
                <a:solidFill>
                  <a:srgbClr val="172B3A"/>
                </a:solidFill>
              </a:defRPr>
            </a:lvl2pPr>
            <a:lvl3pPr>
              <a:defRPr sz="1950" b="0">
                <a:solidFill>
                  <a:srgbClr val="172B3A"/>
                </a:solidFill>
              </a:defRPr>
            </a:lvl3pPr>
            <a:lvl4pPr>
              <a:defRPr sz="1950" b="0">
                <a:solidFill>
                  <a:srgbClr val="172B3A"/>
                </a:solidFill>
              </a:defRPr>
            </a:lvl4pPr>
            <a:lvl5pPr>
              <a:defRPr sz="1950" b="0">
                <a:solidFill>
                  <a:srgbClr val="172B3A"/>
                </a:solidFill>
              </a:defRPr>
            </a:lvl5pPr>
            <a:lvl6pPr>
              <a:defRPr sz="1950" b="0">
                <a:solidFill>
                  <a:srgbClr val="172B3A"/>
                </a:solidFill>
              </a:defRPr>
            </a:lvl6pPr>
            <a:lvl7pPr>
              <a:defRPr sz="1950" b="0">
                <a:solidFill>
                  <a:srgbClr val="172B3A"/>
                </a:solidFill>
              </a:defRPr>
            </a:lvl7pPr>
            <a:lvl8pPr>
              <a:defRPr sz="1950" b="0">
                <a:solidFill>
                  <a:srgbClr val="172B3A"/>
                </a:solidFill>
              </a:defRPr>
            </a:lvl8pPr>
            <a:lvl9pPr>
              <a:defRPr sz="1950" b="0">
                <a:solidFill>
                  <a:srgbClr val="172B3A"/>
                </a:solidFill>
              </a:defRPr>
            </a:lvl9pPr>
          </a:lstStyle>
          <a:p xmlns:a="http://schemas.openxmlformats.org/drawingml/2006/main">
            <a:pPr>
              <a:defRPr sz="1950" b="0">
                <a:solidFill>
                  <a:srgbClr val="172B3A"/>
                </a:solidFill>
              </a:defRPr>
            </a:pPr>
            <a:r>
              <a:rPr sz="1950" b="0">
                <a:solidFill>
                  <a:srgbClr val="172B3A"/>
                </a:solidFill>
                <a:latin typeface="Helvetica Neue"/>
                <a:ea typeface="Helvetica Neue"/>
                <a:cs typeface="Helvetica Neue"/>
              </a:rPr>
              <a:t>Hardt et al. (2016)</a:t>
            </a: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Opportunity and post-processing</a:t>
            </a:r>
            <a:br>
              <a:rPr sz="1950" b="0">
                <a:solidFill>
                  <a:srgbClr val="172B3A"/>
                </a:solidFill>
                <a:latin typeface="Helvetica Neue"/>
                <a:ea typeface="Helvetica Neue"/>
                <a:cs typeface="Helvetica Neue"/>
              </a:rPr>
            </a:b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Corbett-Davies et al. (2017)</a:t>
            </a: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Utility under fairness constraints</a:t>
            </a:r>
            <a:br>
              <a:rPr sz="1950" b="0">
                <a:solidFill>
                  <a:srgbClr val="172B3A"/>
                </a:solidFill>
                <a:latin typeface="Helvetica Neue"/>
                <a:ea typeface="Helvetica Neue"/>
                <a:cs typeface="Helvetica Neue"/>
              </a:rPr>
            </a:b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Agarwal et al. (2018)</a:t>
            </a: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Explicit constrained classification</a:t>
            </a:r>
          </a:p>
        </p:txBody>
      </p:sp>
      <p:sp>
        <p:nvSpPr>
          <p:cNvPr id="5" name="">
            <a:extLst xmlns:a="http://schemas.openxmlformats.org/drawingml/2006/main">
              <a:ext uri="{FF2B5EF4-FFF2-40B4-BE49-F238E27FC236}">
                <a16:creationId xmlns:a16="http://schemas.microsoft.com/office/drawing/2014/main" id="{24067743-8CE3-4EA1-82AF-52870D6E7F52}"/>
              </a:ext>
            </a:extLst>
          </p:cNvPr>
          <p:cNvSpPr>
            <a:spLocks xmlns:a="http://schemas.openxmlformats.org/drawingml/2006/main" noGrp="1"/>
          </p:cNvSpPr>
          <p:nvPr/>
        </p:nvSpPr>
        <p:spPr>
          <a:xfrm xmlns:a="http://schemas.openxmlformats.org/drawingml/2006/main">
            <a:off x="657225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7D86"/>
                </a:solidFill>
              </a:defRPr>
            </a:defPPr>
            <a:lvl1pPr>
              <a:defRPr sz="2175" b="1">
                <a:solidFill>
                  <a:srgbClr val="167D86"/>
                </a:solidFill>
              </a:defRPr>
            </a:lvl1pPr>
            <a:lvl2pPr>
              <a:defRPr sz="2175" b="1">
                <a:solidFill>
                  <a:srgbClr val="167D86"/>
                </a:solidFill>
              </a:defRPr>
            </a:lvl2pPr>
            <a:lvl3pPr>
              <a:defRPr sz="2175" b="1">
                <a:solidFill>
                  <a:srgbClr val="167D86"/>
                </a:solidFill>
              </a:defRPr>
            </a:lvl3pPr>
            <a:lvl4pPr>
              <a:defRPr sz="2175" b="1">
                <a:solidFill>
                  <a:srgbClr val="167D86"/>
                </a:solidFill>
              </a:defRPr>
            </a:lvl4pPr>
            <a:lvl5pPr>
              <a:defRPr sz="2175" b="1">
                <a:solidFill>
                  <a:srgbClr val="167D86"/>
                </a:solidFill>
              </a:defRPr>
            </a:lvl5pPr>
            <a:lvl6pPr>
              <a:defRPr sz="2175" b="1">
                <a:solidFill>
                  <a:srgbClr val="167D86"/>
                </a:solidFill>
              </a:defRPr>
            </a:lvl6pPr>
            <a:lvl7pPr>
              <a:defRPr sz="2175" b="1">
                <a:solidFill>
                  <a:srgbClr val="167D86"/>
                </a:solidFill>
              </a:defRPr>
            </a:lvl7pPr>
            <a:lvl8pPr>
              <a:defRPr sz="2175" b="1">
                <a:solidFill>
                  <a:srgbClr val="167D86"/>
                </a:solidFill>
              </a:defRPr>
            </a:lvl8pPr>
            <a:lvl9pPr>
              <a:defRPr sz="2175" b="1">
                <a:solidFill>
                  <a:srgbClr val="167D86"/>
                </a:solidFill>
              </a:defRPr>
            </a:lvl9pPr>
          </a:lstStyle>
          <a:p xmlns:a="http://schemas.openxmlformats.org/drawingml/2006/main">
            <a:pPr>
              <a:defRPr sz="2175" b="1">
                <a:solidFill>
                  <a:srgbClr val="167D86"/>
                </a:solidFill>
              </a:defRPr>
            </a:pPr>
            <a:r>
              <a:rPr sz="2175" b="1">
                <a:solidFill>
                  <a:srgbClr val="167D86"/>
                </a:solidFill>
                <a:latin typeface="Helvetica Neue"/>
                <a:ea typeface="Helvetica Neue"/>
                <a:cs typeface="Helvetica Neue"/>
              </a:rPr>
              <a:t>Subgroups and selective labels</a:t>
            </a:r>
          </a:p>
        </p:txBody>
      </p:sp>
      <p:sp>
        <p:nvSpPr>
          <p:cNvPr id="6" name="">
            <a:extLst xmlns:a="http://schemas.openxmlformats.org/drawingml/2006/main">
              <a:ext uri="{FF2B5EF4-FFF2-40B4-BE49-F238E27FC236}">
                <a16:creationId xmlns:a16="http://schemas.microsoft.com/office/drawing/2014/main" id="{CD6F1F33-9D8A-4C24-B972-52439BBD89F2}"/>
              </a:ext>
            </a:extLst>
          </p:cNvPr>
          <p:cNvSpPr>
            <a:spLocks xmlns:a="http://schemas.openxmlformats.org/drawingml/2006/main" noGrp="1"/>
          </p:cNvSpPr>
          <p:nvPr/>
        </p:nvSpPr>
        <p:spPr>
          <a:xfrm xmlns:a="http://schemas.openxmlformats.org/drawingml/2006/main">
            <a:off x="6572250" y="2133600"/>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defRPr>
            </a:defPPr>
            <a:lvl1pPr>
              <a:defRPr sz="1875" b="0">
                <a:solidFill>
                  <a:srgbClr val="172B3A"/>
                </a:solidFill>
              </a:defRPr>
            </a:lvl1pPr>
            <a:lvl2pPr>
              <a:defRPr sz="1875" b="0">
                <a:solidFill>
                  <a:srgbClr val="172B3A"/>
                </a:solidFill>
              </a:defRPr>
            </a:lvl2pPr>
            <a:lvl3pPr>
              <a:defRPr sz="1875" b="0">
                <a:solidFill>
                  <a:srgbClr val="172B3A"/>
                </a:solidFill>
              </a:defRPr>
            </a:lvl3pPr>
            <a:lvl4pPr>
              <a:defRPr sz="1875" b="0">
                <a:solidFill>
                  <a:srgbClr val="172B3A"/>
                </a:solidFill>
              </a:defRPr>
            </a:lvl4pPr>
            <a:lvl5pPr>
              <a:defRPr sz="1875" b="0">
                <a:solidFill>
                  <a:srgbClr val="172B3A"/>
                </a:solidFill>
              </a:defRPr>
            </a:lvl5pPr>
            <a:lvl6pPr>
              <a:defRPr sz="1875" b="0">
                <a:solidFill>
                  <a:srgbClr val="172B3A"/>
                </a:solidFill>
              </a:defRPr>
            </a:lvl6pPr>
            <a:lvl7pPr>
              <a:defRPr sz="1875" b="0">
                <a:solidFill>
                  <a:srgbClr val="172B3A"/>
                </a:solidFill>
              </a:defRPr>
            </a:lvl7pPr>
            <a:lvl8pPr>
              <a:defRPr sz="1875" b="0">
                <a:solidFill>
                  <a:srgbClr val="172B3A"/>
                </a:solidFill>
              </a:defRPr>
            </a:lvl8pPr>
            <a:lvl9pPr>
              <a:defRPr sz="1875" b="0">
                <a:solidFill>
                  <a:srgbClr val="172B3A"/>
                </a:solidFill>
              </a:defRPr>
            </a:lvl9pPr>
          </a:lstStyle>
          <a:p xmlns:a="http://schemas.openxmlformats.org/drawingml/2006/main">
            <a:pPr>
              <a:defRPr sz="1875" b="0">
                <a:solidFill>
                  <a:srgbClr val="172B3A"/>
                </a:solidFill>
              </a:defRPr>
            </a:pPr>
            <a:r>
              <a:rPr sz="1875" b="0">
                <a:solidFill>
                  <a:srgbClr val="172B3A"/>
                </a:solidFill>
                <a:latin typeface="Helvetica Neue"/>
                <a:ea typeface="Helvetica Neue"/>
                <a:cs typeface="Helvetica Neue"/>
              </a:rPr>
              <a:t>Kearns et al. (2018): hidden subgroups</a:t>
            </a:r>
            <a:br>
              <a:rPr sz="1875" b="0">
                <a:solidFill>
                  <a:srgbClr val="172B3A"/>
                </a:solidFill>
                <a:latin typeface="Helvetica Neue"/>
                <a:ea typeface="Helvetica Neue"/>
                <a:cs typeface="Helvetica Neue"/>
              </a:rPr>
            </a:br>
            <a:br>
              <a:rPr sz="1875" b="0">
                <a:solidFill>
                  <a:srgbClr val="172B3A"/>
                </a:solidFill>
                <a:latin typeface="Helvetica Neue"/>
                <a:ea typeface="Helvetica Neue"/>
                <a:cs typeface="Helvetica Neue"/>
              </a:rPr>
            </a:br>
            <a:r>
              <a:rPr sz="1875" b="0">
                <a:solidFill>
                  <a:srgbClr val="172B3A"/>
                </a:solidFill>
                <a:latin typeface="Helvetica Neue"/>
                <a:ea typeface="Helvetica Neue"/>
                <a:cs typeface="Helvetica Neue"/>
              </a:rPr>
              <a:t>Lakkaraju et al. (2017): selective labels</a:t>
            </a:r>
            <a:br>
              <a:rPr sz="1875" b="0">
                <a:solidFill>
                  <a:srgbClr val="172B3A"/>
                </a:solidFill>
                <a:latin typeface="Helvetica Neue"/>
                <a:ea typeface="Helvetica Neue"/>
                <a:cs typeface="Helvetica Neue"/>
              </a:rPr>
            </a:br>
            <a:br>
              <a:rPr sz="1875" b="0">
                <a:solidFill>
                  <a:srgbClr val="172B3A"/>
                </a:solidFill>
                <a:latin typeface="Helvetica Neue"/>
                <a:ea typeface="Helvetica Neue"/>
                <a:cs typeface="Helvetica Neue"/>
              </a:rPr>
            </a:br>
            <a:r>
              <a:rPr sz="1875" b="0">
                <a:solidFill>
                  <a:srgbClr val="172B3A"/>
                </a:solidFill>
                <a:latin typeface="Helvetica Neue"/>
                <a:ea typeface="Helvetica Neue"/>
                <a:cs typeface="Helvetica Neue"/>
              </a:rPr>
              <a:t>Kilbertus et al. (2020): decision policies</a:t>
            </a:r>
            <a:br>
              <a:rPr sz="1875" b="0">
                <a:solidFill>
                  <a:srgbClr val="172B3A"/>
                </a:solidFill>
                <a:latin typeface="Helvetica Neue"/>
                <a:ea typeface="Helvetica Neue"/>
                <a:cs typeface="Helvetica Neue"/>
              </a:rPr>
            </a:br>
            <a:br>
              <a:rPr sz="1875" b="0">
                <a:solidFill>
                  <a:srgbClr val="172B3A"/>
                </a:solidFill>
                <a:latin typeface="Helvetica Neue"/>
                <a:ea typeface="Helvetica Neue"/>
                <a:cs typeface="Helvetica Neue"/>
              </a:rPr>
            </a:br>
            <a:r>
              <a:rPr sz="1875" b="0">
                <a:solidFill>
                  <a:srgbClr val="172B3A"/>
                </a:solidFill>
                <a:latin typeface="Helvetica Neue"/>
                <a:ea typeface="Helvetica Neue"/>
                <a:cs typeface="Helvetica Neue"/>
              </a:rPr>
              <a:t>Valdrighi et al. (2026): long-term fairness</a:t>
            </a:r>
          </a:p>
        </p:txBody>
      </p:sp>
      <p:sp>
        <p:nvSpPr>
          <p:cNvPr id="7" name="">
            <a:extLst xmlns:a="http://schemas.openxmlformats.org/drawingml/2006/main">
              <a:ext uri="{FF2B5EF4-FFF2-40B4-BE49-F238E27FC236}">
                <a16:creationId xmlns:a16="http://schemas.microsoft.com/office/drawing/2014/main" id="{2ECF7298-2879-4B67-B94D-2F4FBBC93598}"/>
              </a:ext>
            </a:extLst>
          </p:cNvPr>
          <p:cNvSpPr>
            <a:spLocks xmlns:a="http://schemas.openxmlformats.org/drawingml/2006/main" noGrp="1"/>
          </p:cNvSpPr>
          <p:nvPr/>
        </p:nvSpPr>
        <p:spPr>
          <a:xfrm xmlns:a="http://schemas.openxmlformats.org/drawingml/2006/main">
            <a:off x="609600"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270"/>
                </a:solidFill>
              </a:defRPr>
            </a:defPPr>
            <a:lvl1pPr>
              <a:defRPr sz="1725" b="0">
                <a:solidFill>
                  <a:srgbClr val="526270"/>
                </a:solidFill>
              </a:defRPr>
            </a:lvl1pPr>
            <a:lvl2pPr>
              <a:defRPr sz="1725" b="0">
                <a:solidFill>
                  <a:srgbClr val="526270"/>
                </a:solidFill>
              </a:defRPr>
            </a:lvl2pPr>
            <a:lvl3pPr>
              <a:defRPr sz="1725" b="0">
                <a:solidFill>
                  <a:srgbClr val="526270"/>
                </a:solidFill>
              </a:defRPr>
            </a:lvl3pPr>
            <a:lvl4pPr>
              <a:defRPr sz="1725" b="0">
                <a:solidFill>
                  <a:srgbClr val="526270"/>
                </a:solidFill>
              </a:defRPr>
            </a:lvl4pPr>
            <a:lvl5pPr>
              <a:defRPr sz="1725" b="0">
                <a:solidFill>
                  <a:srgbClr val="526270"/>
                </a:solidFill>
              </a:defRPr>
            </a:lvl5pPr>
            <a:lvl6pPr>
              <a:defRPr sz="1725" b="0">
                <a:solidFill>
                  <a:srgbClr val="526270"/>
                </a:solidFill>
              </a:defRPr>
            </a:lvl6pPr>
            <a:lvl7pPr>
              <a:defRPr sz="1725" b="0">
                <a:solidFill>
                  <a:srgbClr val="526270"/>
                </a:solidFill>
              </a:defRPr>
            </a:lvl7pPr>
            <a:lvl8pPr>
              <a:defRPr sz="1725" b="0">
                <a:solidFill>
                  <a:srgbClr val="526270"/>
                </a:solidFill>
              </a:defRPr>
            </a:lvl8pPr>
            <a:lvl9pPr>
              <a:defRPr sz="1725" b="0">
                <a:solidFill>
                  <a:srgbClr val="526270"/>
                </a:solidFill>
              </a:defRPr>
            </a:lvl9pPr>
          </a:lstStyle>
          <a:p xmlns:a="http://schemas.openxmlformats.org/drawingml/2006/main">
            <a:pPr>
              <a:defRPr sz="1725" b="0">
                <a:solidFill>
                  <a:srgbClr val="526270"/>
                </a:solidFill>
              </a:defRPr>
            </a:pPr>
            <a:r>
              <a:rPr sz="1725" b="0">
                <a:solidFill>
                  <a:srgbClr val="526270"/>
                </a:solidFill>
                <a:latin typeface="Helvetica Neue"/>
                <a:ea typeface="Helvetica Neue"/>
                <a:cs typeface="Helvetica Neue"/>
              </a:rPr>
              <a:t>Project scope: a reproducible engineering combination inspired by these ideas</a:t>
            </a:r>
          </a:p>
        </p:txBody>
      </p:sp>
    </p:spTree>
    <p:extLst>
      <p:ext uri="{BB962C8B-B14F-4D97-AF65-F5344CB8AC3E}">
        <p14:creationId xmlns:p14="http://schemas.microsoft.com/office/powerpoint/2010/main" val="1297406982"/>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B7411C-E965-4767-A97B-91991E4F57CD}"/>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Original Experimental Framework</a:t>
            </a:r>
          </a:p>
        </p:txBody>
      </p:sp>
      <p:sp>
        <p:nvSpPr>
          <p:cNvPr id="2" name="">
            <a:extLst xmlns:a="http://schemas.openxmlformats.org/drawingml/2006/main">
              <a:ext uri="{FF2B5EF4-FFF2-40B4-BE49-F238E27FC236}">
                <a16:creationId xmlns:a16="http://schemas.microsoft.com/office/drawing/2014/main" id="{BCACBE97-A95A-40A0-8978-0B3F658C9873}"/>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4 / 8</a:t>
            </a:r>
          </a:p>
        </p:txBody>
      </p:sp>
      <p:sp>
        <p:nvSpPr>
          <p:cNvPr id="3" name="">
            <a:extLst xmlns:a="http://schemas.openxmlformats.org/drawingml/2006/main">
              <a:ext uri="{FF2B5EF4-FFF2-40B4-BE49-F238E27FC236}">
                <a16:creationId xmlns:a16="http://schemas.microsoft.com/office/drawing/2014/main" id="{791E948F-09E7-48BD-AAB3-788F7283A290}"/>
              </a:ext>
            </a:extLst>
          </p:cNvPr>
          <p:cNvSpPr>
            <a:spLocks xmlns:a="http://schemas.openxmlformats.org/drawingml/2006/main" noGrp="1"/>
          </p:cNvSpPr>
          <p:nvPr/>
        </p:nvSpPr>
        <p:spPr>
          <a:xfrm xmlns:a="http://schemas.openxmlformats.org/drawingml/2006/main">
            <a:off x="609600" y="14859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D86"/>
                </a:solidFill>
              </a:defRPr>
            </a:defPPr>
            <a:lvl1pPr>
              <a:defRPr sz="2325" b="1">
                <a:solidFill>
                  <a:srgbClr val="167D86"/>
                </a:solidFill>
              </a:defRPr>
            </a:lvl1pPr>
            <a:lvl2pPr>
              <a:defRPr sz="2325" b="1">
                <a:solidFill>
                  <a:srgbClr val="167D86"/>
                </a:solidFill>
              </a:defRPr>
            </a:lvl2pPr>
            <a:lvl3pPr>
              <a:defRPr sz="2325" b="1">
                <a:solidFill>
                  <a:srgbClr val="167D86"/>
                </a:solidFill>
              </a:defRPr>
            </a:lvl3pPr>
            <a:lvl4pPr>
              <a:defRPr sz="2325" b="1">
                <a:solidFill>
                  <a:srgbClr val="167D86"/>
                </a:solidFill>
              </a:defRPr>
            </a:lvl4pPr>
            <a:lvl5pPr>
              <a:defRPr sz="2325" b="1">
                <a:solidFill>
                  <a:srgbClr val="167D86"/>
                </a:solidFill>
              </a:defRPr>
            </a:lvl5pPr>
            <a:lvl6pPr>
              <a:defRPr sz="2325" b="1">
                <a:solidFill>
                  <a:srgbClr val="167D86"/>
                </a:solidFill>
              </a:defRPr>
            </a:lvl6pPr>
            <a:lvl7pPr>
              <a:defRPr sz="2325" b="1">
                <a:solidFill>
                  <a:srgbClr val="167D86"/>
                </a:solidFill>
              </a:defRPr>
            </a:lvl7pPr>
            <a:lvl8pPr>
              <a:defRPr sz="2325" b="1">
                <a:solidFill>
                  <a:srgbClr val="167D86"/>
                </a:solidFill>
              </a:defRPr>
            </a:lvl8pPr>
            <a:lvl9pPr>
              <a:defRPr sz="2325" b="1">
                <a:solidFill>
                  <a:srgbClr val="167D86"/>
                </a:solidFill>
              </a:defRPr>
            </a:lvl9pPr>
          </a:lstStyle>
          <a:p xmlns:a="http://schemas.openxmlformats.org/drawingml/2006/main">
            <a:pPr>
              <a:defRPr sz="2325" b="1">
                <a:solidFill>
                  <a:srgbClr val="167D86"/>
                </a:solidFill>
              </a:defRPr>
            </a:pPr>
            <a:r>
              <a:rPr sz="2325" b="1">
                <a:solidFill>
                  <a:srgbClr val="167D86"/>
                </a:solidFill>
                <a:latin typeface="Helvetica Neue"/>
                <a:ea typeface="Helvetica Neue"/>
                <a:cs typeface="Helvetica Neue"/>
              </a:rPr>
              <a:t>307,511 labeled applications and 1,716,428 bureau records</a:t>
            </a:r>
          </a:p>
        </p:txBody>
      </p:sp>
      <p:graphicFrame>
        <p:nvGraphicFramePr>
          <p:cNvPr id="4" name="">
            <a:extLst xmlns:a="http://schemas.openxmlformats.org/drawingml/2006/main">
              <a:ext uri="{FF2B5EF4-FFF2-40B4-BE49-F238E27FC236}">
                <a16:creationId xmlns:a16="http://schemas.microsoft.com/office/drawing/2014/main" id="{D7B59AA6-BBD1-4B32-B37F-A5B6E4CB1609}"/>
              </a:ext>
            </a:extLst>
          </p:cNvPr>
          <p:cNvGraphicFramePr/>
          <p:nvPr/>
        </p:nvGraphicFramePr>
        <p:xfrm>
          <a:off xmlns:a="http://schemas.openxmlformats.org/drawingml/2006/main" x="609600" y="2257425"/>
          <a:ext xmlns:a="http://schemas.openxmlformats.org/drawingml/2006/main" cx="10953750" cy="1285875"/>
        </p:xfrm>
        <a:graphic xmlns:a="http://schemas.openxmlformats.org/drawingml/2006/main">
          <a:graphicData uri="http://schemas.openxmlformats.org/drawingml/2006/table">
            <a:tbl>
              <a:tblPr/>
              <a:tblGrid>
                <a:gridCol w="2190750"/>
                <a:gridCol w="2190750"/>
                <a:gridCol w="2190750"/>
                <a:gridCol w="2190750"/>
                <a:gridCol w="2190750"/>
              </a:tblGrid>
              <a:tr h="642938">
                <a:tc>
                  <a:txBody>
                    <a:bodyPr/>
                    <a:lstStyle/>
                    <a:p>
                      <a:r>
                        <a:rPr sz="1725" b="1">
                          <a:solidFill>
                            <a:srgbClr val="FFFFFF"/>
                          </a:solidFill>
                          <a:latin typeface="Helvetica Neue"/>
                          <a:ea typeface="Helvetica Neue"/>
                          <a:cs typeface="Helvetica Neue"/>
                        </a:rPr>
                        <a:t>Training</a:t>
                      </a:r>
                    </a:p>
                  </a:txBody>
                  <a:tcPr marL="91440" marR="91440" marT="45720" marB="45720">
                    <a:lnL w="5715">
                      <a:solidFill>
                        <a:srgbClr val="D6DAD8"/>
                      </a:solidFill>
                      <a:prstDash val="solid"/>
                    </a:lnL>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c>
                  <a:txBody>
                    <a:bodyPr/>
                    <a:lstStyle/>
                    <a:p>
                      <a:r>
                        <a:rPr sz="1725" b="1">
                          <a:solidFill>
                            <a:srgbClr val="FFFFFF"/>
                          </a:solidFill>
                          <a:latin typeface="Helvetica Neue"/>
                          <a:ea typeface="Helvetica Neue"/>
                          <a:cs typeface="Helvetica Neue"/>
                        </a:rPr>
                        <a:t>Reference</a:t>
                      </a:r>
                    </a:p>
                  </a:txBody>
                  <a:tcPr marL="91440" marR="91440" marT="45720" marB="45720">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c>
                  <a:txBody>
                    <a:bodyPr/>
                    <a:lstStyle/>
                    <a:p>
                      <a:r>
                        <a:rPr sz="1725" b="1">
                          <a:solidFill>
                            <a:srgbClr val="FFFFFF"/>
                          </a:solidFill>
                          <a:latin typeface="Helvetica Neue"/>
                          <a:ea typeface="Helvetica Neue"/>
                          <a:cs typeface="Helvetica Neue"/>
                        </a:rPr>
                        <a:t>Calibration</a:t>
                      </a:r>
                    </a:p>
                  </a:txBody>
                  <a:tcPr marL="91440" marR="91440" marT="45720" marB="45720">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c>
                  <a:txBody>
                    <a:bodyPr/>
                    <a:lstStyle/>
                    <a:p>
                      <a:r>
                        <a:rPr sz="1725" b="1">
                          <a:solidFill>
                            <a:srgbClr val="FFFFFF"/>
                          </a:solidFill>
                          <a:latin typeface="Helvetica Neue"/>
                          <a:ea typeface="Helvetica Neue"/>
                          <a:cs typeface="Helvetica Neue"/>
                        </a:rPr>
                        <a:t>Validation</a:t>
                      </a:r>
                    </a:p>
                  </a:txBody>
                  <a:tcPr marL="91440" marR="91440" marT="45720" marB="45720">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c>
                  <a:txBody>
                    <a:bodyPr/>
                    <a:lstStyle/>
                    <a:p>
                      <a:r>
                        <a:rPr sz="1725" b="1">
                          <a:solidFill>
                            <a:srgbClr val="FFFFFF"/>
                          </a:solidFill>
                          <a:latin typeface="Helvetica Neue"/>
                          <a:ea typeface="Helvetica Neue"/>
                          <a:cs typeface="Helvetica Neue"/>
                        </a:rPr>
                        <a:t>Test</a:t>
                      </a:r>
                    </a:p>
                  </a:txBody>
                  <a:tcPr marL="91440" marR="91440" marT="45720" marB="45720">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r>
              <a:tr h="642938">
                <a:tc>
                  <a:txBody>
                    <a:bodyPr/>
                    <a:lstStyle/>
                    <a:p>
                      <a:r>
                        <a:rPr sz="1725" b="0">
                          <a:solidFill>
                            <a:srgbClr val="172B3A"/>
                          </a:solidFill>
                          <a:latin typeface="Helvetica Neue"/>
                          <a:ea typeface="Helvetica Neue"/>
                          <a:cs typeface="Helvetica Neue"/>
                        </a:rPr>
                        <a:t>50%</a:t>
                      </a:r>
                    </a:p>
                  </a:txBody>
                  <a:tcPr marL="91440" marR="91440" marT="45720" marB="45720">
                    <a:lnL w="5715">
                      <a:solidFill>
                        <a:srgbClr val="D6DAD8"/>
                      </a:solidFill>
                      <a:prstDash val="solid"/>
                    </a:lnL>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10%</a:t>
                      </a:r>
                    </a:p>
                  </a:txBody>
                  <a:tcPr marL="91440" marR="91440" marT="45720" marB="45720">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10%</a:t>
                      </a:r>
                    </a:p>
                  </a:txBody>
                  <a:tcPr marL="91440" marR="91440" marT="45720" marB="45720">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10%</a:t>
                      </a:r>
                    </a:p>
                  </a:txBody>
                  <a:tcPr marL="91440" marR="91440" marT="45720" marB="45720">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20%</a:t>
                      </a:r>
                    </a:p>
                  </a:txBody>
                  <a:tcPr marL="91440" marR="91440" marT="45720" marB="45720">
                    <a:lnR w="5715">
                      <a:solidFill>
                        <a:srgbClr val="D6DAD8"/>
                      </a:solidFill>
                      <a:prstDash val="solid"/>
                    </a:lnR>
                    <a:lnB w="5715">
                      <a:solidFill>
                        <a:srgbClr val="D6DAD8"/>
                      </a:solidFill>
                      <a:prstDash val="solid"/>
                    </a:lnB>
                    <a:solidFill>
                      <a:srgbClr val="F1F1ED"/>
                    </a:solidFill>
                  </a:tcPr>
                </a:tc>
              </a:tr>
            </a:tbl>
          </a:graphicData>
        </a:graphic>
      </p:graphicFrame>
      <p:sp>
        <p:nvSpPr>
          <p:cNvPr id="5" name="">
            <a:extLst xmlns:a="http://schemas.openxmlformats.org/drawingml/2006/main">
              <a:ext uri="{FF2B5EF4-FFF2-40B4-BE49-F238E27FC236}">
                <a16:creationId xmlns:a16="http://schemas.microsoft.com/office/drawing/2014/main" id="{11BECD14-D40F-4B4A-898A-66990B63CB39}"/>
              </a:ext>
            </a:extLst>
          </p:cNvPr>
          <p:cNvSpPr>
            <a:spLocks xmlns:a="http://schemas.openxmlformats.org/drawingml/2006/main" noGrp="1"/>
          </p:cNvSpPr>
          <p:nvPr/>
        </p:nvSpPr>
        <p:spPr>
          <a:xfrm xmlns:a="http://schemas.openxmlformats.org/drawingml/2006/main">
            <a:off x="609600" y="39624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defRPr>
            </a:defPPr>
            <a:lvl1pPr>
              <a:defRPr sz="2250" b="1">
                <a:solidFill>
                  <a:srgbClr val="172B3A"/>
                </a:solidFill>
              </a:defRPr>
            </a:lvl1pPr>
            <a:lvl2pPr>
              <a:defRPr sz="2250" b="1">
                <a:solidFill>
                  <a:srgbClr val="172B3A"/>
                </a:solidFill>
              </a:defRPr>
            </a:lvl2pPr>
            <a:lvl3pPr>
              <a:defRPr sz="2250" b="1">
                <a:solidFill>
                  <a:srgbClr val="172B3A"/>
                </a:solidFill>
              </a:defRPr>
            </a:lvl3pPr>
            <a:lvl4pPr>
              <a:defRPr sz="2250" b="1">
                <a:solidFill>
                  <a:srgbClr val="172B3A"/>
                </a:solidFill>
              </a:defRPr>
            </a:lvl4pPr>
            <a:lvl5pPr>
              <a:defRPr sz="2250" b="1">
                <a:solidFill>
                  <a:srgbClr val="172B3A"/>
                </a:solidFill>
              </a:defRPr>
            </a:lvl5pPr>
            <a:lvl6pPr>
              <a:defRPr sz="2250" b="1">
                <a:solidFill>
                  <a:srgbClr val="172B3A"/>
                </a:solidFill>
              </a:defRPr>
            </a:lvl6pPr>
            <a:lvl7pPr>
              <a:defRPr sz="2250" b="1">
                <a:solidFill>
                  <a:srgbClr val="172B3A"/>
                </a:solidFill>
              </a:defRPr>
            </a:lvl7pPr>
            <a:lvl8pPr>
              <a:defRPr sz="2250" b="1">
                <a:solidFill>
                  <a:srgbClr val="172B3A"/>
                </a:solidFill>
              </a:defRPr>
            </a:lvl8pPr>
            <a:lvl9pPr>
              <a:defRPr sz="2250" b="1">
                <a:solidFill>
                  <a:srgbClr val="172B3A"/>
                </a:solidFill>
              </a:defRPr>
            </a:lvl9pPr>
          </a:lstStyle>
          <a:p xmlns:a="http://schemas.openxmlformats.org/drawingml/2006/main">
            <a:pPr>
              <a:defRPr sz="2250" b="1">
                <a:solidFill>
                  <a:srgbClr val="172B3A"/>
                </a:solidFill>
              </a:defRPr>
            </a:pPr>
            <a:r>
              <a:rPr sz="2250" b="1">
                <a:solidFill>
                  <a:srgbClr val="172B3A"/>
                </a:solidFill>
                <a:latin typeface="Helvetica Neue"/>
                <a:ea typeface="Helvetica Neue"/>
                <a:cs typeface="Helvetica Neue"/>
              </a:rPr>
              <a:t>Existing study</a:t>
            </a:r>
          </a:p>
        </p:txBody>
      </p:sp>
      <p:sp>
        <p:nvSpPr>
          <p:cNvPr id="6" name="">
            <a:extLst xmlns:a="http://schemas.openxmlformats.org/drawingml/2006/main">
              <a:ext uri="{FF2B5EF4-FFF2-40B4-BE49-F238E27FC236}">
                <a16:creationId xmlns:a16="http://schemas.microsoft.com/office/drawing/2014/main" id="{8CE9B193-BB43-4E0B-A277-624AE6F98206}"/>
              </a:ext>
            </a:extLst>
          </p:cNvPr>
          <p:cNvSpPr>
            <a:spLocks xmlns:a="http://schemas.openxmlformats.org/drawingml/2006/main" noGrp="1"/>
          </p:cNvSpPr>
          <p:nvPr/>
        </p:nvSpPr>
        <p:spPr>
          <a:xfrm xmlns:a="http://schemas.openxmlformats.org/drawingml/2006/main">
            <a:off x="609600" y="454342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defRPr>
            </a:defPPr>
            <a:lvl1pPr>
              <a:defRPr sz="1950" b="0">
                <a:solidFill>
                  <a:srgbClr val="172B3A"/>
                </a:solidFill>
              </a:defRPr>
            </a:lvl1pPr>
            <a:lvl2pPr>
              <a:defRPr sz="1950" b="0">
                <a:solidFill>
                  <a:srgbClr val="172B3A"/>
                </a:solidFill>
              </a:defRPr>
            </a:lvl2pPr>
            <a:lvl3pPr>
              <a:defRPr sz="1950" b="0">
                <a:solidFill>
                  <a:srgbClr val="172B3A"/>
                </a:solidFill>
              </a:defRPr>
            </a:lvl3pPr>
            <a:lvl4pPr>
              <a:defRPr sz="1950" b="0">
                <a:solidFill>
                  <a:srgbClr val="172B3A"/>
                </a:solidFill>
              </a:defRPr>
            </a:lvl4pPr>
            <a:lvl5pPr>
              <a:defRPr sz="1950" b="0">
                <a:solidFill>
                  <a:srgbClr val="172B3A"/>
                </a:solidFill>
              </a:defRPr>
            </a:lvl5pPr>
            <a:lvl6pPr>
              <a:defRPr sz="1950" b="0">
                <a:solidFill>
                  <a:srgbClr val="172B3A"/>
                </a:solidFill>
              </a:defRPr>
            </a:lvl6pPr>
            <a:lvl7pPr>
              <a:defRPr sz="1950" b="0">
                <a:solidFill>
                  <a:srgbClr val="172B3A"/>
                </a:solidFill>
              </a:defRPr>
            </a:lvl7pPr>
            <a:lvl8pPr>
              <a:defRPr sz="1950" b="0">
                <a:solidFill>
                  <a:srgbClr val="172B3A"/>
                </a:solidFill>
              </a:defRPr>
            </a:lvl8pPr>
            <a:lvl9pPr>
              <a:defRPr sz="1950" b="0">
                <a:solidFill>
                  <a:srgbClr val="172B3A"/>
                </a:solidFill>
              </a:defRPr>
            </a:lvl9pPr>
          </a:lstStyle>
          <a:p xmlns:a="http://schemas.openxmlformats.org/drawingml/2006/main">
            <a:pPr>
              <a:defRPr sz="1950" b="0">
                <a:solidFill>
                  <a:srgbClr val="172B3A"/>
                </a:solidFill>
              </a:defRPr>
            </a:pPr>
            <a:r>
              <a:rPr sz="1950" b="0">
                <a:solidFill>
                  <a:srgbClr val="172B3A"/>
                </a:solidFill>
                <a:latin typeface="Helvetica Neue"/>
                <a:ea typeface="Helvetica Neue"/>
                <a:cs typeface="Helvetica Neue"/>
              </a:rPr>
              <a:t>220 model identifiers, 701 published evaluations</a:t>
            </a: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Sampling, training objectives, and feedback</a:t>
            </a:r>
          </a:p>
        </p:txBody>
      </p:sp>
      <p:sp>
        <p:nvSpPr>
          <p:cNvPr id="7" name="">
            <a:extLst xmlns:a="http://schemas.openxmlformats.org/drawingml/2006/main">
              <a:ext uri="{FF2B5EF4-FFF2-40B4-BE49-F238E27FC236}">
                <a16:creationId xmlns:a16="http://schemas.microsoft.com/office/drawing/2014/main" id="{B537999F-069D-47F3-97A1-C66825DCA750}"/>
              </a:ext>
            </a:extLst>
          </p:cNvPr>
          <p:cNvSpPr>
            <a:spLocks xmlns:a="http://schemas.openxmlformats.org/drawingml/2006/main" noGrp="1"/>
          </p:cNvSpPr>
          <p:nvPr/>
        </p:nvSpPr>
        <p:spPr>
          <a:xfrm xmlns:a="http://schemas.openxmlformats.org/drawingml/2006/main">
            <a:off x="6619875" y="39624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72B3A"/>
                </a:solidFill>
              </a:defRPr>
            </a:defPPr>
            <a:lvl1pPr>
              <a:defRPr sz="2250" b="1">
                <a:solidFill>
                  <a:srgbClr val="172B3A"/>
                </a:solidFill>
              </a:defRPr>
            </a:lvl1pPr>
            <a:lvl2pPr>
              <a:defRPr sz="2250" b="1">
                <a:solidFill>
                  <a:srgbClr val="172B3A"/>
                </a:solidFill>
              </a:defRPr>
            </a:lvl2pPr>
            <a:lvl3pPr>
              <a:defRPr sz="2250" b="1">
                <a:solidFill>
                  <a:srgbClr val="172B3A"/>
                </a:solidFill>
              </a:defRPr>
            </a:lvl3pPr>
            <a:lvl4pPr>
              <a:defRPr sz="2250" b="1">
                <a:solidFill>
                  <a:srgbClr val="172B3A"/>
                </a:solidFill>
              </a:defRPr>
            </a:lvl4pPr>
            <a:lvl5pPr>
              <a:defRPr sz="2250" b="1">
                <a:solidFill>
                  <a:srgbClr val="172B3A"/>
                </a:solidFill>
              </a:defRPr>
            </a:lvl5pPr>
            <a:lvl6pPr>
              <a:defRPr sz="2250" b="1">
                <a:solidFill>
                  <a:srgbClr val="172B3A"/>
                </a:solidFill>
              </a:defRPr>
            </a:lvl6pPr>
            <a:lvl7pPr>
              <a:defRPr sz="2250" b="1">
                <a:solidFill>
                  <a:srgbClr val="172B3A"/>
                </a:solidFill>
              </a:defRPr>
            </a:lvl7pPr>
            <a:lvl8pPr>
              <a:defRPr sz="2250" b="1">
                <a:solidFill>
                  <a:srgbClr val="172B3A"/>
                </a:solidFill>
              </a:defRPr>
            </a:lvl8pPr>
            <a:lvl9pPr>
              <a:defRPr sz="2250" b="1">
                <a:solidFill>
                  <a:srgbClr val="172B3A"/>
                </a:solidFill>
              </a:defRPr>
            </a:lvl9pPr>
          </a:lstStyle>
          <a:p xmlns:a="http://schemas.openxmlformats.org/drawingml/2006/main">
            <a:pPr>
              <a:defRPr sz="2250" b="1">
                <a:solidFill>
                  <a:srgbClr val="172B3A"/>
                </a:solidFill>
              </a:defRPr>
            </a:pPr>
            <a:r>
              <a:rPr sz="2250" b="1">
                <a:solidFill>
                  <a:srgbClr val="172B3A"/>
                </a:solidFill>
                <a:latin typeface="Helvetica Neue"/>
                <a:ea typeface="Helvetica Neue"/>
                <a:cs typeface="Helvetica Neue"/>
              </a:rPr>
              <a:t>This follow-up</a:t>
            </a:r>
          </a:p>
        </p:txBody>
      </p:sp>
      <p:sp>
        <p:nvSpPr>
          <p:cNvPr id="8" name="">
            <a:extLst xmlns:a="http://schemas.openxmlformats.org/drawingml/2006/main">
              <a:ext uri="{FF2B5EF4-FFF2-40B4-BE49-F238E27FC236}">
                <a16:creationId xmlns:a16="http://schemas.microsoft.com/office/drawing/2014/main" id="{D128762A-DDF1-40BF-8581-84C68CEE4C56}"/>
              </a:ext>
            </a:extLst>
          </p:cNvPr>
          <p:cNvSpPr>
            <a:spLocks xmlns:a="http://schemas.openxmlformats.org/drawingml/2006/main" noGrp="1"/>
          </p:cNvSpPr>
          <p:nvPr/>
        </p:nvSpPr>
        <p:spPr>
          <a:xfrm xmlns:a="http://schemas.openxmlformats.org/drawingml/2006/main">
            <a:off x="6619875" y="45434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B3A"/>
                </a:solidFill>
              </a:defRPr>
            </a:defPPr>
            <a:lvl1pPr>
              <a:defRPr sz="1950" b="0">
                <a:solidFill>
                  <a:srgbClr val="172B3A"/>
                </a:solidFill>
              </a:defRPr>
            </a:lvl1pPr>
            <a:lvl2pPr>
              <a:defRPr sz="1950" b="0">
                <a:solidFill>
                  <a:srgbClr val="172B3A"/>
                </a:solidFill>
              </a:defRPr>
            </a:lvl2pPr>
            <a:lvl3pPr>
              <a:defRPr sz="1950" b="0">
                <a:solidFill>
                  <a:srgbClr val="172B3A"/>
                </a:solidFill>
              </a:defRPr>
            </a:lvl3pPr>
            <a:lvl4pPr>
              <a:defRPr sz="1950" b="0">
                <a:solidFill>
                  <a:srgbClr val="172B3A"/>
                </a:solidFill>
              </a:defRPr>
            </a:lvl4pPr>
            <a:lvl5pPr>
              <a:defRPr sz="1950" b="0">
                <a:solidFill>
                  <a:srgbClr val="172B3A"/>
                </a:solidFill>
              </a:defRPr>
            </a:lvl5pPr>
            <a:lvl6pPr>
              <a:defRPr sz="1950" b="0">
                <a:solidFill>
                  <a:srgbClr val="172B3A"/>
                </a:solidFill>
              </a:defRPr>
            </a:lvl6pPr>
            <a:lvl7pPr>
              <a:defRPr sz="1950" b="0">
                <a:solidFill>
                  <a:srgbClr val="172B3A"/>
                </a:solidFill>
              </a:defRPr>
            </a:lvl7pPr>
            <a:lvl8pPr>
              <a:defRPr sz="1950" b="0">
                <a:solidFill>
                  <a:srgbClr val="172B3A"/>
                </a:solidFill>
              </a:defRPr>
            </a:lvl8pPr>
            <a:lvl9pPr>
              <a:defRPr sz="1950" b="0">
                <a:solidFill>
                  <a:srgbClr val="172B3A"/>
                </a:solidFill>
              </a:defRPr>
            </a:lvl9pPr>
          </a:lstStyle>
          <a:p xmlns:a="http://schemas.openxmlformats.org/drawingml/2006/main">
            <a:pPr>
              <a:defRPr sz="1950" b="0">
                <a:solidFill>
                  <a:srgbClr val="172B3A"/>
                </a:solidFill>
              </a:defRPr>
            </a:pPr>
            <a:r>
              <a:rPr sz="1950" b="0">
                <a:solidFill>
                  <a:srgbClr val="172B3A"/>
                </a:solidFill>
                <a:latin typeface="Helvetica Neue"/>
                <a:ea typeface="Helvetica Neue"/>
                <a:cs typeface="Helvetica Neue"/>
              </a:rPr>
              <a:t>6 recovered fixed scoring models, 78 policies</a:t>
            </a:r>
            <a:br>
              <a:rPr sz="1950" b="0">
                <a:solidFill>
                  <a:srgbClr val="172B3A"/>
                </a:solidFill>
                <a:latin typeface="Helvetica Neue"/>
                <a:ea typeface="Helvetica Neue"/>
                <a:cs typeface="Helvetica Neue"/>
              </a:rPr>
            </a:br>
            <a:r>
              <a:rPr sz="1950" b="0">
                <a:solidFill>
                  <a:srgbClr val="172B3A"/>
                </a:solidFill>
                <a:latin typeface="Helvetica Neue"/>
                <a:ea typeface="Helvetica Neue"/>
                <a:cs typeface="Helvetica Neue"/>
              </a:rPr>
              <a:t>200 trees, depth 5, CPU with 4 threads</a:t>
            </a:r>
          </a:p>
        </p:txBody>
      </p:sp>
      <p:sp>
        <p:nvSpPr>
          <p:cNvPr id="9" name="">
            <a:extLst xmlns:a="http://schemas.openxmlformats.org/drawingml/2006/main">
              <a:ext uri="{FF2B5EF4-FFF2-40B4-BE49-F238E27FC236}">
                <a16:creationId xmlns:a16="http://schemas.microsoft.com/office/drawing/2014/main" id="{DE94A373-3CE0-4930-8A2D-863F85895850}"/>
              </a:ext>
            </a:extLst>
          </p:cNvPr>
          <p:cNvSpPr>
            <a:spLocks xmlns:a="http://schemas.openxmlformats.org/drawingml/2006/main" noGrp="1"/>
          </p:cNvSpPr>
          <p:nvPr/>
        </p:nvSpPr>
        <p:spPr>
          <a:xfrm xmlns:a="http://schemas.openxmlformats.org/drawingml/2006/main">
            <a:off x="609600" y="59436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86B2D"/>
                </a:solidFill>
              </a:defRPr>
            </a:defPPr>
            <a:lvl1pPr>
              <a:defRPr sz="1650" b="0">
                <a:solidFill>
                  <a:srgbClr val="B86B2D"/>
                </a:solidFill>
              </a:defRPr>
            </a:lvl1pPr>
            <a:lvl2pPr>
              <a:defRPr sz="1650" b="0">
                <a:solidFill>
                  <a:srgbClr val="B86B2D"/>
                </a:solidFill>
              </a:defRPr>
            </a:lvl2pPr>
            <a:lvl3pPr>
              <a:defRPr sz="1650" b="0">
                <a:solidFill>
                  <a:srgbClr val="B86B2D"/>
                </a:solidFill>
              </a:defRPr>
            </a:lvl3pPr>
            <a:lvl4pPr>
              <a:defRPr sz="1650" b="0">
                <a:solidFill>
                  <a:srgbClr val="B86B2D"/>
                </a:solidFill>
              </a:defRPr>
            </a:lvl4pPr>
            <a:lvl5pPr>
              <a:defRPr sz="1650" b="0">
                <a:solidFill>
                  <a:srgbClr val="B86B2D"/>
                </a:solidFill>
              </a:defRPr>
            </a:lvl5pPr>
            <a:lvl6pPr>
              <a:defRPr sz="1650" b="0">
                <a:solidFill>
                  <a:srgbClr val="B86B2D"/>
                </a:solidFill>
              </a:defRPr>
            </a:lvl6pPr>
            <a:lvl7pPr>
              <a:defRPr sz="1650" b="0">
                <a:solidFill>
                  <a:srgbClr val="B86B2D"/>
                </a:solidFill>
              </a:defRPr>
            </a:lvl7pPr>
            <a:lvl8pPr>
              <a:defRPr sz="1650" b="0">
                <a:solidFill>
                  <a:srgbClr val="B86B2D"/>
                </a:solidFill>
              </a:defRPr>
            </a:lvl8pPr>
            <a:lvl9pPr>
              <a:defRPr sz="1650" b="0">
                <a:solidFill>
                  <a:srgbClr val="B86B2D"/>
                </a:solidFill>
              </a:defRPr>
            </a:lvl9pPr>
          </a:lstStyle>
          <a:p xmlns:a="http://schemas.openxmlformats.org/drawingml/2006/main">
            <a:pPr>
              <a:defRPr sz="1650" b="0">
                <a:solidFill>
                  <a:srgbClr val="B86B2D"/>
                </a:solidFill>
              </a:defRPr>
            </a:pPr>
            <a:r>
              <a:rPr sz="1650" b="0">
                <a:solidFill>
                  <a:srgbClr val="B86B2D"/>
                </a:solidFill>
                <a:latin typeface="Helvetica Neue"/>
                <a:ea typeface="Helvetica Neue"/>
                <a:cs typeface="Helvetica Neue"/>
              </a:rPr>
              <a:t>All new rules freeze before evaluation. The historical test set was previously inspected.</a:t>
            </a:r>
          </a:p>
        </p:txBody>
      </p:sp>
    </p:spTree>
    <p:extLst>
      <p:ext uri="{BB962C8B-B14F-4D97-AF65-F5344CB8AC3E}">
        <p14:creationId xmlns:p14="http://schemas.microsoft.com/office/powerpoint/2010/main" val="723083188"/>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E71632B-92F6-454C-8F85-98737321BFC6}"/>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Fairness–Performance Trade-offs</a:t>
            </a:r>
          </a:p>
        </p:txBody>
      </p:sp>
      <p:sp>
        <p:nvSpPr>
          <p:cNvPr id="2" name="">
            <a:extLst xmlns:a="http://schemas.openxmlformats.org/drawingml/2006/main">
              <a:ext uri="{FF2B5EF4-FFF2-40B4-BE49-F238E27FC236}">
                <a16:creationId xmlns:a16="http://schemas.microsoft.com/office/drawing/2014/main" id="{2A8139DD-E663-41E3-B4B0-DAA7B29850AA}"/>
              </a:ext>
            </a:extLst>
          </p:cNvPr>
          <p:cNvSpPr>
            <a:spLocks xmlns:a="http://schemas.openxmlformats.org/drawingml/2006/main" noGrp="1"/>
          </p:cNvSpPr>
          <p:nvPr/>
        </p:nvSpPr>
        <p:spPr>
          <a:xfrm xmlns:a="http://schemas.openxmlformats.org/drawingml/2006/main">
            <a:off x="609600" y="11430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67D86"/>
                </a:solidFill>
              </a:defRPr>
            </a:defPPr>
            <a:lvl1pPr>
              <a:defRPr sz="1575" b="1">
                <a:solidFill>
                  <a:srgbClr val="167D86"/>
                </a:solidFill>
              </a:defRPr>
            </a:lvl1pPr>
            <a:lvl2pPr>
              <a:defRPr sz="1575" b="1">
                <a:solidFill>
                  <a:srgbClr val="167D86"/>
                </a:solidFill>
              </a:defRPr>
            </a:lvl2pPr>
            <a:lvl3pPr>
              <a:defRPr sz="1575" b="1">
                <a:solidFill>
                  <a:srgbClr val="167D86"/>
                </a:solidFill>
              </a:defRPr>
            </a:lvl3pPr>
            <a:lvl4pPr>
              <a:defRPr sz="1575" b="1">
                <a:solidFill>
                  <a:srgbClr val="167D86"/>
                </a:solidFill>
              </a:defRPr>
            </a:lvl4pPr>
            <a:lvl5pPr>
              <a:defRPr sz="1575" b="1">
                <a:solidFill>
                  <a:srgbClr val="167D86"/>
                </a:solidFill>
              </a:defRPr>
            </a:lvl5pPr>
            <a:lvl6pPr>
              <a:defRPr sz="1575" b="1">
                <a:solidFill>
                  <a:srgbClr val="167D86"/>
                </a:solidFill>
              </a:defRPr>
            </a:lvl6pPr>
            <a:lvl7pPr>
              <a:defRPr sz="1575" b="1">
                <a:solidFill>
                  <a:srgbClr val="167D86"/>
                </a:solidFill>
              </a:defRPr>
            </a:lvl7pPr>
            <a:lvl8pPr>
              <a:defRPr sz="1575" b="1">
                <a:solidFill>
                  <a:srgbClr val="167D86"/>
                </a:solidFill>
              </a:defRPr>
            </a:lvl8pPr>
            <a:lvl9pPr>
              <a:defRPr sz="1575" b="1">
                <a:solidFill>
                  <a:srgbClr val="167D86"/>
                </a:solidFill>
              </a:defRPr>
            </a:lvl9pPr>
          </a:lstStyle>
          <a:p xmlns:a="http://schemas.openxmlformats.org/drawingml/2006/main">
            <a:pPr>
              <a:defRPr sz="1575" b="1">
                <a:solidFill>
                  <a:srgbClr val="167D86"/>
                </a:solidFill>
              </a:defRPr>
            </a:pPr>
            <a:r>
              <a:rPr sz="1575" b="1">
                <a:solidFill>
                  <a:srgbClr val="167D86"/>
                </a:solidFill>
                <a:latin typeface="Helvetica Neue"/>
                <a:ea typeface="Helvetica Neue"/>
                <a:cs typeface="Helvetica Neue"/>
              </a:rPr>
              <a:t>Part 2: Personal Insights and Feasible Solutions</a:t>
            </a:r>
          </a:p>
        </p:txBody>
      </p:sp>
      <p:sp>
        <p:nvSpPr>
          <p:cNvPr id="3" name="">
            <a:extLst xmlns:a="http://schemas.openxmlformats.org/drawingml/2006/main">
              <a:ext uri="{FF2B5EF4-FFF2-40B4-BE49-F238E27FC236}">
                <a16:creationId xmlns:a16="http://schemas.microsoft.com/office/drawing/2014/main" id="{6B73EC5E-43CE-4870-8BE8-3DE1F39AEC5F}"/>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5 / 8</a:t>
            </a:r>
          </a:p>
        </p:txBody>
      </p:sp>
      <p:graphicFrame>
        <p:nvGraphicFramePr>
          <p:cNvPr id="4" name="Chart">
            <a:extLst xmlns:a="http://schemas.openxmlformats.org/drawingml/2006/main">
              <a:ext uri="{FF2B5EF4-FFF2-40B4-BE49-F238E27FC236}">
                <a16:creationId xmlns:a16="http://schemas.microsoft.com/office/drawing/2014/main" id="{A68A4566-B39D-43BB-AB7B-A25C40EF0287}"/>
              </a:ext>
            </a:extLst>
          </p:cNvPr>
          <p:cNvGraphicFramePr/>
          <p:nvPr/>
        </p:nvGraphicFramePr>
        <p:xfrm>
          <a:off xmlns:a="http://schemas.openxmlformats.org/drawingml/2006/main" x="609600" y="1733550"/>
          <a:ext xmlns:a="http://schemas.openxmlformats.org/drawingml/2006/main" cx="6953250" cy="3810000"/>
        </p:xfrm>
        <a:graphic xmlns:a="http://schemas.openxmlformats.org/drawingml/2006/main">
          <a:graphicData uri="http://schemas.openxmlformats.org/drawingml/2006/chart">
            <c:chart xmlns:r="http://schemas.openxmlformats.org/officeDocument/2006/relationships" xmlns:c="http://schemas.openxmlformats.org/drawingml/2006/chart" r:id="Rd4e7185ceac94a7d"/>
          </a:graphicData>
        </a:graphic>
      </p:graphicFrame>
      <p:sp>
        <p:nvSpPr>
          <p:cNvPr id="5" name="">
            <a:extLst xmlns:a="http://schemas.openxmlformats.org/drawingml/2006/main">
              <a:ext uri="{FF2B5EF4-FFF2-40B4-BE49-F238E27FC236}">
                <a16:creationId xmlns:a16="http://schemas.microsoft.com/office/drawing/2014/main" id="{C57089C5-3E81-4E2D-A207-DB2C4AB66152}"/>
              </a:ext>
            </a:extLst>
          </p:cNvPr>
          <p:cNvSpPr>
            <a:spLocks xmlns:a="http://schemas.openxmlformats.org/drawingml/2006/main" noGrp="1"/>
          </p:cNvSpPr>
          <p:nvPr/>
        </p:nvSpPr>
        <p:spPr>
          <a:xfrm xmlns:a="http://schemas.openxmlformats.org/drawingml/2006/main">
            <a:off x="8048625" y="19526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67D86"/>
                </a:solidFill>
              </a:defRPr>
            </a:defPPr>
            <a:lvl1pPr>
              <a:defRPr sz="2850" b="1">
                <a:solidFill>
                  <a:srgbClr val="167D86"/>
                </a:solidFill>
              </a:defRPr>
            </a:lvl1pPr>
            <a:lvl2pPr>
              <a:defRPr sz="2850" b="1">
                <a:solidFill>
                  <a:srgbClr val="167D86"/>
                </a:solidFill>
              </a:defRPr>
            </a:lvl2pPr>
            <a:lvl3pPr>
              <a:defRPr sz="2850" b="1">
                <a:solidFill>
                  <a:srgbClr val="167D86"/>
                </a:solidFill>
              </a:defRPr>
            </a:lvl3pPr>
            <a:lvl4pPr>
              <a:defRPr sz="2850" b="1">
                <a:solidFill>
                  <a:srgbClr val="167D86"/>
                </a:solidFill>
              </a:defRPr>
            </a:lvl4pPr>
            <a:lvl5pPr>
              <a:defRPr sz="2850" b="1">
                <a:solidFill>
                  <a:srgbClr val="167D86"/>
                </a:solidFill>
              </a:defRPr>
            </a:lvl5pPr>
            <a:lvl6pPr>
              <a:defRPr sz="2850" b="1">
                <a:solidFill>
                  <a:srgbClr val="167D86"/>
                </a:solidFill>
              </a:defRPr>
            </a:lvl6pPr>
            <a:lvl7pPr>
              <a:defRPr sz="2850" b="1">
                <a:solidFill>
                  <a:srgbClr val="167D86"/>
                </a:solidFill>
              </a:defRPr>
            </a:lvl7pPr>
            <a:lvl8pPr>
              <a:defRPr sz="2850" b="1">
                <a:solidFill>
                  <a:srgbClr val="167D86"/>
                </a:solidFill>
              </a:defRPr>
            </a:lvl8pPr>
            <a:lvl9pPr>
              <a:defRPr sz="2850" b="1">
                <a:solidFill>
                  <a:srgbClr val="167D86"/>
                </a:solidFill>
              </a:defRPr>
            </a:lvl9pPr>
          </a:lstStyle>
          <a:p xmlns:a="http://schemas.openxmlformats.org/drawingml/2006/main">
            <a:pPr>
              <a:defRPr sz="2850" b="1">
                <a:solidFill>
                  <a:srgbClr val="167D86"/>
                </a:solidFill>
              </a:defRPr>
            </a:pPr>
            <a:r>
              <a:rPr sz="2850" b="1">
                <a:solidFill>
                  <a:srgbClr val="167D86"/>
                </a:solidFill>
                <a:latin typeface="Helvetica Neue"/>
                <a:ea typeface="Helvetica Neue"/>
                <a:cs typeface="Helvetica Neue"/>
              </a:rPr>
              <a:t>5.83 to 0.09 pp</a:t>
            </a:r>
          </a:p>
        </p:txBody>
      </p:sp>
      <p:sp>
        <p:nvSpPr>
          <p:cNvPr id="6" name="">
            <a:extLst xmlns:a="http://schemas.openxmlformats.org/drawingml/2006/main">
              <a:ext uri="{FF2B5EF4-FFF2-40B4-BE49-F238E27FC236}">
                <a16:creationId xmlns:a16="http://schemas.microsoft.com/office/drawing/2014/main" id="{FE92C5B4-C662-472F-AE5A-279AF0B7F894}"/>
              </a:ext>
            </a:extLst>
          </p:cNvPr>
          <p:cNvSpPr>
            <a:spLocks xmlns:a="http://schemas.openxmlformats.org/drawingml/2006/main" noGrp="1"/>
          </p:cNvSpPr>
          <p:nvPr/>
        </p:nvSpPr>
        <p:spPr>
          <a:xfrm xmlns:a="http://schemas.openxmlformats.org/drawingml/2006/main">
            <a:off x="8048625" y="27241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defRPr>
            </a:defPPr>
            <a:lvl1pPr>
              <a:defRPr sz="1875" b="0">
                <a:solidFill>
                  <a:srgbClr val="172B3A"/>
                </a:solidFill>
              </a:defRPr>
            </a:lvl1pPr>
            <a:lvl2pPr>
              <a:defRPr sz="1875" b="0">
                <a:solidFill>
                  <a:srgbClr val="172B3A"/>
                </a:solidFill>
              </a:defRPr>
            </a:lvl2pPr>
            <a:lvl3pPr>
              <a:defRPr sz="1875" b="0">
                <a:solidFill>
                  <a:srgbClr val="172B3A"/>
                </a:solidFill>
              </a:defRPr>
            </a:lvl3pPr>
            <a:lvl4pPr>
              <a:defRPr sz="1875" b="0">
                <a:solidFill>
                  <a:srgbClr val="172B3A"/>
                </a:solidFill>
              </a:defRPr>
            </a:lvl4pPr>
            <a:lvl5pPr>
              <a:defRPr sz="1875" b="0">
                <a:solidFill>
                  <a:srgbClr val="172B3A"/>
                </a:solidFill>
              </a:defRPr>
            </a:lvl5pPr>
            <a:lvl6pPr>
              <a:defRPr sz="1875" b="0">
                <a:solidFill>
                  <a:srgbClr val="172B3A"/>
                </a:solidFill>
              </a:defRPr>
            </a:lvl6pPr>
            <a:lvl7pPr>
              <a:defRPr sz="1875" b="0">
                <a:solidFill>
                  <a:srgbClr val="172B3A"/>
                </a:solidFill>
              </a:defRPr>
            </a:lvl7pPr>
            <a:lvl8pPr>
              <a:defRPr sz="1875" b="0">
                <a:solidFill>
                  <a:srgbClr val="172B3A"/>
                </a:solidFill>
              </a:defRPr>
            </a:lvl8pPr>
            <a:lvl9pPr>
              <a:defRPr sz="1875" b="0">
                <a:solidFill>
                  <a:srgbClr val="172B3A"/>
                </a:solidFill>
              </a:defRPr>
            </a:lvl9pPr>
          </a:lstStyle>
          <a:p xmlns:a="http://schemas.openxmlformats.org/drawingml/2006/main">
            <a:pPr>
              <a:defRPr sz="1875" b="0">
                <a:solidFill>
                  <a:srgbClr val="172B3A"/>
                </a:solidFill>
              </a:defRPr>
            </a:pPr>
            <a:r>
              <a:rPr sz="1875" b="0">
                <a:solidFill>
                  <a:srgbClr val="172B3A"/>
                </a:solidFill>
                <a:latin typeface="Helvetica Neue"/>
                <a:ea typeface="Helvetica Neue"/>
                <a:cs typeface="Helvetica Neue"/>
              </a:rPr>
              <a:t>Absolute FRR gap</a:t>
            </a:r>
          </a:p>
        </p:txBody>
      </p:sp>
      <p:sp>
        <p:nvSpPr>
          <p:cNvPr id="7" name="">
            <a:extLst xmlns:a="http://schemas.openxmlformats.org/drawingml/2006/main">
              <a:ext uri="{FF2B5EF4-FFF2-40B4-BE49-F238E27FC236}">
                <a16:creationId xmlns:a16="http://schemas.microsoft.com/office/drawing/2014/main" id="{649D647C-4445-407B-9EE4-B44AD04EDF72}"/>
              </a:ext>
            </a:extLst>
          </p:cNvPr>
          <p:cNvSpPr>
            <a:spLocks xmlns:a="http://schemas.openxmlformats.org/drawingml/2006/main" noGrp="1"/>
          </p:cNvSpPr>
          <p:nvPr/>
        </p:nvSpPr>
        <p:spPr>
          <a:xfrm xmlns:a="http://schemas.openxmlformats.org/drawingml/2006/main">
            <a:off x="8048625" y="3571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B86B2D"/>
                </a:solidFill>
              </a:defRPr>
            </a:defPPr>
            <a:lvl1pPr>
              <a:defRPr sz="2850" b="1">
                <a:solidFill>
                  <a:srgbClr val="B86B2D"/>
                </a:solidFill>
              </a:defRPr>
            </a:lvl1pPr>
            <a:lvl2pPr>
              <a:defRPr sz="2850" b="1">
                <a:solidFill>
                  <a:srgbClr val="B86B2D"/>
                </a:solidFill>
              </a:defRPr>
            </a:lvl2pPr>
            <a:lvl3pPr>
              <a:defRPr sz="2850" b="1">
                <a:solidFill>
                  <a:srgbClr val="B86B2D"/>
                </a:solidFill>
              </a:defRPr>
            </a:lvl3pPr>
            <a:lvl4pPr>
              <a:defRPr sz="2850" b="1">
                <a:solidFill>
                  <a:srgbClr val="B86B2D"/>
                </a:solidFill>
              </a:defRPr>
            </a:lvl4pPr>
            <a:lvl5pPr>
              <a:defRPr sz="2850" b="1">
                <a:solidFill>
                  <a:srgbClr val="B86B2D"/>
                </a:solidFill>
              </a:defRPr>
            </a:lvl5pPr>
            <a:lvl6pPr>
              <a:defRPr sz="2850" b="1">
                <a:solidFill>
                  <a:srgbClr val="B86B2D"/>
                </a:solidFill>
              </a:defRPr>
            </a:lvl6pPr>
            <a:lvl7pPr>
              <a:defRPr sz="2850" b="1">
                <a:solidFill>
                  <a:srgbClr val="B86B2D"/>
                </a:solidFill>
              </a:defRPr>
            </a:lvl7pPr>
            <a:lvl8pPr>
              <a:defRPr sz="2850" b="1">
                <a:solidFill>
                  <a:srgbClr val="B86B2D"/>
                </a:solidFill>
              </a:defRPr>
            </a:lvl8pPr>
            <a:lvl9pPr>
              <a:defRPr sz="2850" b="1">
                <a:solidFill>
                  <a:srgbClr val="B86B2D"/>
                </a:solidFill>
              </a:defRPr>
            </a:lvl9pPr>
          </a:lstStyle>
          <a:p xmlns:a="http://schemas.openxmlformats.org/drawingml/2006/main">
            <a:pPr>
              <a:defRPr sz="2850" b="1">
                <a:solidFill>
                  <a:srgbClr val="B86B2D"/>
                </a:solidFill>
              </a:defRPr>
            </a:pPr>
            <a:r>
              <a:rPr sz="2850" b="1">
                <a:solidFill>
                  <a:srgbClr val="B86B2D"/>
                </a:solidFill>
                <a:latin typeface="Helvetica Neue"/>
                <a:ea typeface="Helvetica Neue"/>
                <a:cs typeface="Helvetica Neue"/>
              </a:rPr>
              <a:t>+1.74 pp</a:t>
            </a:r>
          </a:p>
        </p:txBody>
      </p:sp>
      <p:sp>
        <p:nvSpPr>
          <p:cNvPr id="8" name="">
            <a:extLst xmlns:a="http://schemas.openxmlformats.org/drawingml/2006/main">
              <a:ext uri="{FF2B5EF4-FFF2-40B4-BE49-F238E27FC236}">
                <a16:creationId xmlns:a16="http://schemas.microsoft.com/office/drawing/2014/main" id="{D6BAB83F-5BB1-41D8-B6EF-0A51E562DCA5}"/>
              </a:ext>
            </a:extLst>
          </p:cNvPr>
          <p:cNvSpPr>
            <a:spLocks xmlns:a="http://schemas.openxmlformats.org/drawingml/2006/main" noGrp="1"/>
          </p:cNvSpPr>
          <p:nvPr/>
        </p:nvSpPr>
        <p:spPr>
          <a:xfrm xmlns:a="http://schemas.openxmlformats.org/drawingml/2006/main">
            <a:off x="8048625" y="4248150"/>
            <a:ext cx="3286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defRPr>
            </a:defPPr>
            <a:lvl1pPr>
              <a:defRPr sz="1875" b="0">
                <a:solidFill>
                  <a:srgbClr val="172B3A"/>
                </a:solidFill>
              </a:defRPr>
            </a:lvl1pPr>
            <a:lvl2pPr>
              <a:defRPr sz="1875" b="0">
                <a:solidFill>
                  <a:srgbClr val="172B3A"/>
                </a:solidFill>
              </a:defRPr>
            </a:lvl2pPr>
            <a:lvl3pPr>
              <a:defRPr sz="1875" b="0">
                <a:solidFill>
                  <a:srgbClr val="172B3A"/>
                </a:solidFill>
              </a:defRPr>
            </a:lvl3pPr>
            <a:lvl4pPr>
              <a:defRPr sz="1875" b="0">
                <a:solidFill>
                  <a:srgbClr val="172B3A"/>
                </a:solidFill>
              </a:defRPr>
            </a:lvl4pPr>
            <a:lvl5pPr>
              <a:defRPr sz="1875" b="0">
                <a:solidFill>
                  <a:srgbClr val="172B3A"/>
                </a:solidFill>
              </a:defRPr>
            </a:lvl5pPr>
            <a:lvl6pPr>
              <a:defRPr sz="1875" b="0">
                <a:solidFill>
                  <a:srgbClr val="172B3A"/>
                </a:solidFill>
              </a:defRPr>
            </a:lvl6pPr>
            <a:lvl7pPr>
              <a:defRPr sz="1875" b="0">
                <a:solidFill>
                  <a:srgbClr val="172B3A"/>
                </a:solidFill>
              </a:defRPr>
            </a:lvl7pPr>
            <a:lvl8pPr>
              <a:defRPr sz="1875" b="0">
                <a:solidFill>
                  <a:srgbClr val="172B3A"/>
                </a:solidFill>
              </a:defRPr>
            </a:lvl8pPr>
            <a:lvl9pPr>
              <a:defRPr sz="1875" b="0">
                <a:solidFill>
                  <a:srgbClr val="172B3A"/>
                </a:solidFill>
              </a:defRPr>
            </a:lvl9pPr>
          </a:lstStyle>
          <a:p xmlns:a="http://schemas.openxmlformats.org/drawingml/2006/main">
            <a:pPr>
              <a:defRPr sz="1875" b="0">
                <a:solidFill>
                  <a:srgbClr val="172B3A"/>
                </a:solidFill>
              </a:defRPr>
            </a:pPr>
            <a:r>
              <a:rPr sz="1875" b="0">
                <a:solidFill>
                  <a:srgbClr val="172B3A"/>
                </a:solidFill>
                <a:latin typeface="Helvetica Neue"/>
                <a:ea typeface="Helvetica Neue"/>
                <a:cs typeface="Helvetica Neue"/>
              </a:rPr>
              <a:t>Comparison-group FRR change</a:t>
            </a:r>
          </a:p>
        </p:txBody>
      </p:sp>
      <p:sp>
        <p:nvSpPr>
          <p:cNvPr id="9" name="">
            <a:extLst xmlns:a="http://schemas.openxmlformats.org/drawingml/2006/main">
              <a:ext uri="{FF2B5EF4-FFF2-40B4-BE49-F238E27FC236}">
                <a16:creationId xmlns:a16="http://schemas.microsoft.com/office/drawing/2014/main" id="{DD9245BF-41AF-4167-8270-EAE8CC5B7E86}"/>
              </a:ext>
            </a:extLst>
          </p:cNvPr>
          <p:cNvSpPr>
            <a:spLocks xmlns:a="http://schemas.openxmlformats.org/drawingml/2006/main" noGrp="1"/>
          </p:cNvSpPr>
          <p:nvPr/>
        </p:nvSpPr>
        <p:spPr>
          <a:xfrm xmlns:a="http://schemas.openxmlformats.org/drawingml/2006/main">
            <a:off x="609600" y="585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270"/>
                </a:solidFill>
              </a:defRPr>
            </a:defPPr>
            <a:lvl1pPr>
              <a:defRPr sz="1650" b="0">
                <a:solidFill>
                  <a:srgbClr val="526270"/>
                </a:solidFill>
              </a:defRPr>
            </a:lvl1pPr>
            <a:lvl2pPr>
              <a:defRPr sz="1650" b="0">
                <a:solidFill>
                  <a:srgbClr val="526270"/>
                </a:solidFill>
              </a:defRPr>
            </a:lvl2pPr>
            <a:lvl3pPr>
              <a:defRPr sz="1650" b="0">
                <a:solidFill>
                  <a:srgbClr val="526270"/>
                </a:solidFill>
              </a:defRPr>
            </a:lvl3pPr>
            <a:lvl4pPr>
              <a:defRPr sz="1650" b="0">
                <a:solidFill>
                  <a:srgbClr val="526270"/>
                </a:solidFill>
              </a:defRPr>
            </a:lvl4pPr>
            <a:lvl5pPr>
              <a:defRPr sz="1650" b="0">
                <a:solidFill>
                  <a:srgbClr val="526270"/>
                </a:solidFill>
              </a:defRPr>
            </a:lvl5pPr>
            <a:lvl6pPr>
              <a:defRPr sz="1650" b="0">
                <a:solidFill>
                  <a:srgbClr val="526270"/>
                </a:solidFill>
              </a:defRPr>
            </a:lvl6pPr>
            <a:lvl7pPr>
              <a:defRPr sz="1650" b="0">
                <a:solidFill>
                  <a:srgbClr val="526270"/>
                </a:solidFill>
              </a:defRPr>
            </a:lvl7pPr>
            <a:lvl8pPr>
              <a:defRPr sz="1650" b="0">
                <a:solidFill>
                  <a:srgbClr val="526270"/>
                </a:solidFill>
              </a:defRPr>
            </a:lvl8pPr>
            <a:lvl9pPr>
              <a:defRPr sz="1650" b="0">
                <a:solidFill>
                  <a:srgbClr val="526270"/>
                </a:solidFill>
              </a:defRPr>
            </a:lvl9pPr>
          </a:lstStyle>
          <a:p xmlns:a="http://schemas.openxmlformats.org/drawingml/2006/main">
            <a:pPr>
              <a:defRPr sz="1650" b="0">
                <a:solidFill>
                  <a:srgbClr val="526270"/>
                </a:solidFill>
              </a:defRPr>
            </a:pPr>
            <a:r>
              <a:rPr sz="1650" b="0">
                <a:solidFill>
                  <a:srgbClr val="526270"/>
                </a:solidFill>
                <a:latin typeface="Helvetica Neue"/>
                <a:ea typeface="Helvetica Neue"/>
                <a:cs typeface="Helvetica Neue"/>
              </a:rPr>
              <a:t>Full fixed model. Approval: 81.29% to 81.03%. Approved risk: about 4.79%. Same AUC: 0.7674.</a:t>
            </a:r>
          </a:p>
        </p:txBody>
      </p:sp>
    </p:spTree>
    <p:extLst>
      <p:ext uri="{BB962C8B-B14F-4D97-AF65-F5344CB8AC3E}">
        <p14:creationId xmlns:p14="http://schemas.microsoft.com/office/powerpoint/2010/main" val="1954213667"/>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9650D7-C787-4508-872A-5CC95BB0B677}"/>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Proposed Fairness Improvements</a:t>
            </a:r>
          </a:p>
        </p:txBody>
      </p:sp>
      <p:sp>
        <p:nvSpPr>
          <p:cNvPr id="2" name="">
            <a:extLst xmlns:a="http://schemas.openxmlformats.org/drawingml/2006/main">
              <a:ext uri="{FF2B5EF4-FFF2-40B4-BE49-F238E27FC236}">
                <a16:creationId xmlns:a16="http://schemas.microsoft.com/office/drawing/2014/main" id="{82B30F28-1427-42BC-83C5-543D44B50C2F}"/>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6 / 8</a:t>
            </a:r>
          </a:p>
        </p:txBody>
      </p:sp>
      <p:sp>
        <p:nvSpPr>
          <p:cNvPr id="3" name="">
            <a:extLst xmlns:a="http://schemas.openxmlformats.org/drawingml/2006/main">
              <a:ext uri="{FF2B5EF4-FFF2-40B4-BE49-F238E27FC236}">
                <a16:creationId xmlns:a16="http://schemas.microsoft.com/office/drawing/2014/main" id="{816D8464-3AE8-4F28-8A97-B57BDF425DCA}"/>
              </a:ext>
            </a:extLst>
          </p:cNvPr>
          <p:cNvSpPr>
            <a:spLocks xmlns:a="http://schemas.openxmlformats.org/drawingml/2006/main" noGrp="1"/>
          </p:cNvSpPr>
          <p:nvPr/>
        </p:nvSpPr>
        <p:spPr>
          <a:xfrm xmlns:a="http://schemas.openxmlformats.org/drawingml/2006/main">
            <a:off x="609600" y="15240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67D86"/>
                </a:solidFill>
              </a:defRPr>
            </a:defPPr>
            <a:lvl1pPr>
              <a:defRPr sz="2325" b="1">
                <a:solidFill>
                  <a:srgbClr val="167D86"/>
                </a:solidFill>
              </a:defRPr>
            </a:lvl1pPr>
            <a:lvl2pPr>
              <a:defRPr sz="2325" b="1">
                <a:solidFill>
                  <a:srgbClr val="167D86"/>
                </a:solidFill>
              </a:defRPr>
            </a:lvl2pPr>
            <a:lvl3pPr>
              <a:defRPr sz="2325" b="1">
                <a:solidFill>
                  <a:srgbClr val="167D86"/>
                </a:solidFill>
              </a:defRPr>
            </a:lvl3pPr>
            <a:lvl4pPr>
              <a:defRPr sz="2325" b="1">
                <a:solidFill>
                  <a:srgbClr val="167D86"/>
                </a:solidFill>
              </a:defRPr>
            </a:lvl4pPr>
            <a:lvl5pPr>
              <a:defRPr sz="2325" b="1">
                <a:solidFill>
                  <a:srgbClr val="167D86"/>
                </a:solidFill>
              </a:defRPr>
            </a:lvl5pPr>
            <a:lvl6pPr>
              <a:defRPr sz="2325" b="1">
                <a:solidFill>
                  <a:srgbClr val="167D86"/>
                </a:solidFill>
              </a:defRPr>
            </a:lvl6pPr>
            <a:lvl7pPr>
              <a:defRPr sz="2325" b="1">
                <a:solidFill>
                  <a:srgbClr val="167D86"/>
                </a:solidFill>
              </a:defRPr>
            </a:lvl7pPr>
            <a:lvl8pPr>
              <a:defRPr sz="2325" b="1">
                <a:solidFill>
                  <a:srgbClr val="167D86"/>
                </a:solidFill>
              </a:defRPr>
            </a:lvl8pPr>
            <a:lvl9pPr>
              <a:defRPr sz="2325" b="1">
                <a:solidFill>
                  <a:srgbClr val="167D86"/>
                </a:solidFill>
              </a:defRPr>
            </a:lvl9pPr>
          </a:lstStyle>
          <a:p xmlns:a="http://schemas.openxmlformats.org/drawingml/2006/main">
            <a:pPr>
              <a:defRPr sz="2325" b="1">
                <a:solidFill>
                  <a:srgbClr val="167D86"/>
                </a:solidFill>
              </a:defRPr>
            </a:pPr>
            <a:r>
              <a:rPr sz="2325" b="1">
                <a:solidFill>
                  <a:srgbClr val="167D86"/>
                </a:solidFill>
                <a:latin typeface="Helvetica Neue"/>
                <a:ea typeface="Helvetica Neue"/>
                <a:cs typeface="Helvetica Neue"/>
              </a:rPr>
              <a:t>Maximize approval under shared constraints</a:t>
            </a:r>
          </a:p>
        </p:txBody>
      </p:sp>
      <p:graphicFrame>
        <p:nvGraphicFramePr>
          <p:cNvPr id="4" name="">
            <a:extLst xmlns:a="http://schemas.openxmlformats.org/drawingml/2006/main">
              <a:ext uri="{FF2B5EF4-FFF2-40B4-BE49-F238E27FC236}">
                <a16:creationId xmlns:a16="http://schemas.microsoft.com/office/drawing/2014/main" id="{4C1DD486-9570-419A-84B3-0E7E54738FE4}"/>
              </a:ext>
            </a:extLst>
          </p:cNvPr>
          <p:cNvGraphicFramePr/>
          <p:nvPr/>
        </p:nvGraphicFramePr>
        <p:xfrm>
          <a:off xmlns:a="http://schemas.openxmlformats.org/drawingml/2006/main" x="609600" y="2295525"/>
          <a:ext xmlns:a="http://schemas.openxmlformats.org/drawingml/2006/main" cx="7143750" cy="2571750"/>
        </p:xfrm>
        <a:graphic xmlns:a="http://schemas.openxmlformats.org/drawingml/2006/main">
          <a:graphicData uri="http://schemas.openxmlformats.org/drawingml/2006/table">
            <a:tbl>
              <a:tblPr/>
              <a:tblGrid>
                <a:gridCol w="2286000"/>
                <a:gridCol w="4857750"/>
              </a:tblGrid>
              <a:tr h="642938">
                <a:tc>
                  <a:txBody>
                    <a:bodyPr/>
                    <a:lstStyle/>
                    <a:p>
                      <a:r>
                        <a:rPr sz="1725" b="1">
                          <a:solidFill>
                            <a:srgbClr val="FFFFFF"/>
                          </a:solidFill>
                          <a:latin typeface="Helvetica Neue"/>
                          <a:ea typeface="Helvetica Neue"/>
                          <a:cs typeface="Helvetica Neue"/>
                        </a:rPr>
                        <a:t>Constraint</a:t>
                      </a:r>
                    </a:p>
                  </a:txBody>
                  <a:tcPr marL="91440" marR="91440" marT="45720" marB="45720">
                    <a:lnL w="5715">
                      <a:solidFill>
                        <a:srgbClr val="D6DAD8"/>
                      </a:solidFill>
                      <a:prstDash val="solid"/>
                    </a:lnL>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c>
                  <a:txBody>
                    <a:bodyPr/>
                    <a:lstStyle/>
                    <a:p>
                      <a:r>
                        <a:rPr sz="1725" b="1">
                          <a:solidFill>
                            <a:srgbClr val="FFFFFF"/>
                          </a:solidFill>
                          <a:latin typeface="Helvetica Neue"/>
                          <a:ea typeface="Helvetica Neue"/>
                          <a:cs typeface="Helvetica Neue"/>
                        </a:rPr>
                        <a:t>Frozen validation requirement</a:t>
                      </a:r>
                    </a:p>
                  </a:txBody>
                  <a:tcPr marL="91440" marR="91440" marT="45720" marB="45720">
                    <a:lnR w="5715">
                      <a:solidFill>
                        <a:srgbClr val="D6DAD8"/>
                      </a:solidFill>
                      <a:prstDash val="solid"/>
                    </a:lnR>
                    <a:lnT w="5715">
                      <a:solidFill>
                        <a:srgbClr val="D6DAD8"/>
                      </a:solidFill>
                      <a:prstDash val="solid"/>
                    </a:lnT>
                    <a:lnB w="5715">
                      <a:solidFill>
                        <a:srgbClr val="D6DAD8"/>
                      </a:solidFill>
                      <a:prstDash val="solid"/>
                    </a:lnB>
                    <a:solidFill>
                      <a:srgbClr val="172B3A"/>
                    </a:solidFill>
                  </a:tcPr>
                </a:tc>
              </a:tr>
              <a:tr h="642938">
                <a:tc>
                  <a:txBody>
                    <a:bodyPr/>
                    <a:lstStyle/>
                    <a:p>
                      <a:r>
                        <a:rPr sz="1725" b="0">
                          <a:solidFill>
                            <a:srgbClr val="172B3A"/>
                          </a:solidFill>
                          <a:latin typeface="Helvetica Neue"/>
                          <a:ea typeface="Helvetica Neue"/>
                          <a:cs typeface="Helvetica Neue"/>
                        </a:rPr>
                        <a:t>Approved risk</a:t>
                      </a:r>
                    </a:p>
                  </a:txBody>
                  <a:tcPr marL="91440" marR="91440" marT="45720" marB="45720">
                    <a:lnL w="5715">
                      <a:solidFill>
                        <a:srgbClr val="D6DAD8"/>
                      </a:solidFill>
                      <a:prstDash val="solid"/>
                    </a:lnL>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At most 5%</a:t>
                      </a:r>
                    </a:p>
                  </a:txBody>
                  <a:tcPr marL="91440" marR="91440" marT="45720" marB="45720">
                    <a:lnR w="5715">
                      <a:solidFill>
                        <a:srgbClr val="D6DAD8"/>
                      </a:solidFill>
                      <a:prstDash val="solid"/>
                    </a:lnR>
                    <a:lnB w="5715">
                      <a:solidFill>
                        <a:srgbClr val="D6DAD8"/>
                      </a:solidFill>
                      <a:prstDash val="solid"/>
                    </a:lnB>
                    <a:solidFill>
                      <a:srgbClr val="F1F1ED"/>
                    </a:solidFill>
                  </a:tcPr>
                </a:tc>
              </a:tr>
              <a:tr h="642938">
                <a:tc>
                  <a:txBody>
                    <a:bodyPr/>
                    <a:lstStyle/>
                    <a:p>
                      <a:r>
                        <a:rPr sz="1725" b="0">
                          <a:solidFill>
                            <a:srgbClr val="172B3A"/>
                          </a:solidFill>
                          <a:latin typeface="Helvetica Neue"/>
                          <a:ea typeface="Helvetica Neue"/>
                          <a:cs typeface="Helvetica Neue"/>
                        </a:rPr>
                        <a:t>Absolute FRR gap</a:t>
                      </a:r>
                    </a:p>
                  </a:txBody>
                  <a:tcPr marL="91440" marR="91440" marT="45720" marB="45720">
                    <a:lnL w="5715">
                      <a:solidFill>
                        <a:srgbClr val="D6DAD8"/>
                      </a:solidFill>
                      <a:prstDash val="solid"/>
                    </a:lnL>
                    <a:lnR w="5715">
                      <a:solidFill>
                        <a:srgbClr val="D6DAD8"/>
                      </a:solidFill>
                      <a:prstDash val="solid"/>
                    </a:lnR>
                    <a:lnB w="5715">
                      <a:solidFill>
                        <a:srgbClr val="D6DAD8"/>
                      </a:solidFill>
                      <a:prstDash val="solid"/>
                    </a:lnB>
                    <a:solidFill>
                      <a:srgbClr val="FAF9F6"/>
                    </a:solidFill>
                  </a:tcPr>
                </a:tc>
                <a:tc>
                  <a:txBody>
                    <a:bodyPr/>
                    <a:lstStyle/>
                    <a:p>
                      <a:r>
                        <a:rPr sz="1725" b="0">
                          <a:solidFill>
                            <a:srgbClr val="172B3A"/>
                          </a:solidFill>
                          <a:latin typeface="Helvetica Neue"/>
                          <a:ea typeface="Helvetica Neue"/>
                          <a:cs typeface="Helvetica Neue"/>
                        </a:rPr>
                        <a:t>At most 2 percentage points</a:t>
                      </a:r>
                    </a:p>
                  </a:txBody>
                  <a:tcPr marL="91440" marR="91440" marT="45720" marB="45720">
                    <a:lnR w="5715">
                      <a:solidFill>
                        <a:srgbClr val="D6DAD8"/>
                      </a:solidFill>
                      <a:prstDash val="solid"/>
                    </a:lnR>
                    <a:lnB w="5715">
                      <a:solidFill>
                        <a:srgbClr val="D6DAD8"/>
                      </a:solidFill>
                      <a:prstDash val="solid"/>
                    </a:lnB>
                    <a:solidFill>
                      <a:srgbClr val="FAF9F6"/>
                    </a:solidFill>
                  </a:tcPr>
                </a:tc>
              </a:tr>
              <a:tr h="642938">
                <a:tc>
                  <a:txBody>
                    <a:bodyPr/>
                    <a:lstStyle/>
                    <a:p>
                      <a:r>
                        <a:rPr sz="1725" b="0">
                          <a:solidFill>
                            <a:srgbClr val="172B3A"/>
                          </a:solidFill>
                          <a:latin typeface="Helvetica Neue"/>
                          <a:ea typeface="Helvetica Neue"/>
                          <a:cs typeface="Helvetica Neue"/>
                        </a:rPr>
                        <a:t>Each group’s FRR</a:t>
                      </a:r>
                    </a:p>
                  </a:txBody>
                  <a:tcPr marL="91440" marR="91440" marT="45720" marB="45720">
                    <a:lnL w="5715">
                      <a:solidFill>
                        <a:srgbClr val="D6DAD8"/>
                      </a:solidFill>
                      <a:prstDash val="solid"/>
                    </a:lnL>
                    <a:lnR w="5715">
                      <a:solidFill>
                        <a:srgbClr val="D6DAD8"/>
                      </a:solidFill>
                      <a:prstDash val="solid"/>
                    </a:lnR>
                    <a:lnB w="5715">
                      <a:solidFill>
                        <a:srgbClr val="D6DAD8"/>
                      </a:solidFill>
                      <a:prstDash val="solid"/>
                    </a:lnB>
                    <a:solidFill>
                      <a:srgbClr val="F1F1ED"/>
                    </a:solidFill>
                  </a:tcPr>
                </a:tc>
                <a:tc>
                  <a:txBody>
                    <a:bodyPr/>
                    <a:lstStyle/>
                    <a:p>
                      <a:r>
                        <a:rPr sz="1725" b="0">
                          <a:solidFill>
                            <a:srgbClr val="172B3A"/>
                          </a:solidFill>
                          <a:latin typeface="Helvetica Neue"/>
                          <a:ea typeface="Helvetica Neue"/>
                          <a:cs typeface="Helvetica Neue"/>
                        </a:rPr>
                        <a:t>At most Business Group + 1pp</a:t>
                      </a:r>
                    </a:p>
                  </a:txBody>
                  <a:tcPr marL="91440" marR="91440" marT="45720" marB="45720">
                    <a:lnR w="5715">
                      <a:solidFill>
                        <a:srgbClr val="D6DAD8"/>
                      </a:solidFill>
                      <a:prstDash val="solid"/>
                    </a:lnR>
                    <a:lnB w="5715">
                      <a:solidFill>
                        <a:srgbClr val="D6DAD8"/>
                      </a:solidFill>
                      <a:prstDash val="solid"/>
                    </a:lnB>
                    <a:solidFill>
                      <a:srgbClr val="F1F1ED"/>
                    </a:solidFill>
                  </a:tcPr>
                </a:tc>
              </a:tr>
            </a:tbl>
          </a:graphicData>
        </a:graphic>
      </p:graphicFrame>
      <p:sp>
        <p:nvSpPr>
          <p:cNvPr id="5" name="">
            <a:extLst xmlns:a="http://schemas.openxmlformats.org/drawingml/2006/main">
              <a:ext uri="{FF2B5EF4-FFF2-40B4-BE49-F238E27FC236}">
                <a16:creationId xmlns:a16="http://schemas.microsoft.com/office/drawing/2014/main" id="{4DDAE029-4DDB-4A71-B1F7-C6824A676A46}"/>
              </a:ext>
            </a:extLst>
          </p:cNvPr>
          <p:cNvSpPr>
            <a:spLocks xmlns:a="http://schemas.openxmlformats.org/drawingml/2006/main" noGrp="1"/>
          </p:cNvSpPr>
          <p:nvPr/>
        </p:nvSpPr>
        <p:spPr>
          <a:xfrm xmlns:a="http://schemas.openxmlformats.org/drawingml/2006/main">
            <a:off x="8343900" y="22860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B86B2D"/>
                </a:solidFill>
              </a:defRPr>
            </a:defPPr>
            <a:lvl1pPr>
              <a:defRPr sz="4350" b="1">
                <a:solidFill>
                  <a:srgbClr val="B86B2D"/>
                </a:solidFill>
              </a:defRPr>
            </a:lvl1pPr>
            <a:lvl2pPr>
              <a:defRPr sz="4350" b="1">
                <a:solidFill>
                  <a:srgbClr val="B86B2D"/>
                </a:solidFill>
              </a:defRPr>
            </a:lvl2pPr>
            <a:lvl3pPr>
              <a:defRPr sz="4350" b="1">
                <a:solidFill>
                  <a:srgbClr val="B86B2D"/>
                </a:solidFill>
              </a:defRPr>
            </a:lvl3pPr>
            <a:lvl4pPr>
              <a:defRPr sz="4350" b="1">
                <a:solidFill>
                  <a:srgbClr val="B86B2D"/>
                </a:solidFill>
              </a:defRPr>
            </a:lvl4pPr>
            <a:lvl5pPr>
              <a:defRPr sz="4350" b="1">
                <a:solidFill>
                  <a:srgbClr val="B86B2D"/>
                </a:solidFill>
              </a:defRPr>
            </a:lvl5pPr>
            <a:lvl6pPr>
              <a:defRPr sz="4350" b="1">
                <a:solidFill>
                  <a:srgbClr val="B86B2D"/>
                </a:solidFill>
              </a:defRPr>
            </a:lvl6pPr>
            <a:lvl7pPr>
              <a:defRPr sz="4350" b="1">
                <a:solidFill>
                  <a:srgbClr val="B86B2D"/>
                </a:solidFill>
              </a:defRPr>
            </a:lvl7pPr>
            <a:lvl8pPr>
              <a:defRPr sz="4350" b="1">
                <a:solidFill>
                  <a:srgbClr val="B86B2D"/>
                </a:solidFill>
              </a:defRPr>
            </a:lvl8pPr>
            <a:lvl9pPr>
              <a:defRPr sz="4350" b="1">
                <a:solidFill>
                  <a:srgbClr val="B86B2D"/>
                </a:solidFill>
              </a:defRPr>
            </a:lvl9pPr>
          </a:lstStyle>
          <a:p xmlns:a="http://schemas.openxmlformats.org/drawingml/2006/main">
            <a:pPr>
              <a:defRPr sz="4350" b="1">
                <a:solidFill>
                  <a:srgbClr val="B86B2D"/>
                </a:solidFill>
              </a:defRPr>
            </a:pPr>
            <a:r>
              <a:rPr sz="4350" b="1">
                <a:solidFill>
                  <a:srgbClr val="B86B2D"/>
                </a:solidFill>
                <a:latin typeface="Helvetica Neue"/>
                <a:ea typeface="Helvetica Neue"/>
                <a:cs typeface="Helvetica Neue"/>
              </a:rPr>
              <a:t>3 of 6</a:t>
            </a:r>
          </a:p>
        </p:txBody>
      </p:sp>
      <p:sp>
        <p:nvSpPr>
          <p:cNvPr id="6" name="">
            <a:extLst xmlns:a="http://schemas.openxmlformats.org/drawingml/2006/main">
              <a:ext uri="{FF2B5EF4-FFF2-40B4-BE49-F238E27FC236}">
                <a16:creationId xmlns:a16="http://schemas.microsoft.com/office/drawing/2014/main" id="{84237FF4-DB8D-4514-8825-B2E7DA0F2946}"/>
              </a:ext>
            </a:extLst>
          </p:cNvPr>
          <p:cNvSpPr>
            <a:spLocks xmlns:a="http://schemas.openxmlformats.org/drawingml/2006/main" noGrp="1"/>
          </p:cNvSpPr>
          <p:nvPr/>
        </p:nvSpPr>
        <p:spPr>
          <a:xfrm xmlns:a="http://schemas.openxmlformats.org/drawingml/2006/main">
            <a:off x="8343900" y="3209925"/>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86B2D"/>
                </a:solidFill>
              </a:defRPr>
            </a:defPPr>
            <a:lvl1pPr>
              <a:defRPr sz="2100" b="1">
                <a:solidFill>
                  <a:srgbClr val="B86B2D"/>
                </a:solidFill>
              </a:defRPr>
            </a:lvl1pPr>
            <a:lvl2pPr>
              <a:defRPr sz="2100" b="1">
                <a:solidFill>
                  <a:srgbClr val="B86B2D"/>
                </a:solidFill>
              </a:defRPr>
            </a:lvl2pPr>
            <a:lvl3pPr>
              <a:defRPr sz="2100" b="1">
                <a:solidFill>
                  <a:srgbClr val="B86B2D"/>
                </a:solidFill>
              </a:defRPr>
            </a:lvl3pPr>
            <a:lvl4pPr>
              <a:defRPr sz="2100" b="1">
                <a:solidFill>
                  <a:srgbClr val="B86B2D"/>
                </a:solidFill>
              </a:defRPr>
            </a:lvl4pPr>
            <a:lvl5pPr>
              <a:defRPr sz="2100" b="1">
                <a:solidFill>
                  <a:srgbClr val="B86B2D"/>
                </a:solidFill>
              </a:defRPr>
            </a:lvl5pPr>
            <a:lvl6pPr>
              <a:defRPr sz="2100" b="1">
                <a:solidFill>
                  <a:srgbClr val="B86B2D"/>
                </a:solidFill>
              </a:defRPr>
            </a:lvl6pPr>
            <a:lvl7pPr>
              <a:defRPr sz="2100" b="1">
                <a:solidFill>
                  <a:srgbClr val="B86B2D"/>
                </a:solidFill>
              </a:defRPr>
            </a:lvl7pPr>
            <a:lvl8pPr>
              <a:defRPr sz="2100" b="1">
                <a:solidFill>
                  <a:srgbClr val="B86B2D"/>
                </a:solidFill>
              </a:defRPr>
            </a:lvl8pPr>
            <a:lvl9pPr>
              <a:defRPr sz="2100" b="1">
                <a:solidFill>
                  <a:srgbClr val="B86B2D"/>
                </a:solidFill>
              </a:defRPr>
            </a:lvl9pPr>
          </a:lstStyle>
          <a:p xmlns:a="http://schemas.openxmlformats.org/drawingml/2006/main">
            <a:pPr>
              <a:defRPr sz="2100" b="1">
                <a:solidFill>
                  <a:srgbClr val="B86B2D"/>
                </a:solidFill>
              </a:defRPr>
            </a:pPr>
            <a:r>
              <a:rPr sz="2100" b="1">
                <a:solidFill>
                  <a:srgbClr val="B86B2D"/>
                </a:solidFill>
                <a:latin typeface="Helvetica Neue"/>
                <a:ea typeface="Helvetica Neue"/>
                <a:cs typeface="Helvetica Neue"/>
              </a:rPr>
              <a:t>INFEASIBLE</a:t>
            </a:r>
          </a:p>
        </p:txBody>
      </p:sp>
      <p:sp>
        <p:nvSpPr>
          <p:cNvPr id="7" name="">
            <a:extLst xmlns:a="http://schemas.openxmlformats.org/drawingml/2006/main">
              <a:ext uri="{FF2B5EF4-FFF2-40B4-BE49-F238E27FC236}">
                <a16:creationId xmlns:a16="http://schemas.microsoft.com/office/drawing/2014/main" id="{AA0CCC23-756A-49A1-BDC1-00C370288E26}"/>
              </a:ext>
            </a:extLst>
          </p:cNvPr>
          <p:cNvSpPr>
            <a:spLocks xmlns:a="http://schemas.openxmlformats.org/drawingml/2006/main" noGrp="1"/>
          </p:cNvSpPr>
          <p:nvPr/>
        </p:nvSpPr>
        <p:spPr>
          <a:xfrm xmlns:a="http://schemas.openxmlformats.org/drawingml/2006/main">
            <a:off x="8343900" y="397192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B3A"/>
                </a:solidFill>
              </a:defRPr>
            </a:defPPr>
            <a:lvl1pPr>
              <a:defRPr sz="1875" b="0">
                <a:solidFill>
                  <a:srgbClr val="172B3A"/>
                </a:solidFill>
              </a:defRPr>
            </a:lvl1pPr>
            <a:lvl2pPr>
              <a:defRPr sz="1875" b="0">
                <a:solidFill>
                  <a:srgbClr val="172B3A"/>
                </a:solidFill>
              </a:defRPr>
            </a:lvl2pPr>
            <a:lvl3pPr>
              <a:defRPr sz="1875" b="0">
                <a:solidFill>
                  <a:srgbClr val="172B3A"/>
                </a:solidFill>
              </a:defRPr>
            </a:lvl3pPr>
            <a:lvl4pPr>
              <a:defRPr sz="1875" b="0">
                <a:solidFill>
                  <a:srgbClr val="172B3A"/>
                </a:solidFill>
              </a:defRPr>
            </a:lvl4pPr>
            <a:lvl5pPr>
              <a:defRPr sz="1875" b="0">
                <a:solidFill>
                  <a:srgbClr val="172B3A"/>
                </a:solidFill>
              </a:defRPr>
            </a:lvl5pPr>
            <a:lvl6pPr>
              <a:defRPr sz="1875" b="0">
                <a:solidFill>
                  <a:srgbClr val="172B3A"/>
                </a:solidFill>
              </a:defRPr>
            </a:lvl6pPr>
            <a:lvl7pPr>
              <a:defRPr sz="1875" b="0">
                <a:solidFill>
                  <a:srgbClr val="172B3A"/>
                </a:solidFill>
              </a:defRPr>
            </a:lvl7pPr>
            <a:lvl8pPr>
              <a:defRPr sz="1875" b="0">
                <a:solidFill>
                  <a:srgbClr val="172B3A"/>
                </a:solidFill>
              </a:defRPr>
            </a:lvl8pPr>
            <a:lvl9pPr>
              <a:defRPr sz="1875" b="0">
                <a:solidFill>
                  <a:srgbClr val="172B3A"/>
                </a:solidFill>
              </a:defRPr>
            </a:lvl9pPr>
          </a:lstStyle>
          <a:p xmlns:a="http://schemas.openxmlformats.org/drawingml/2006/main">
            <a:pPr>
              <a:defRPr sz="1875" b="0">
                <a:solidFill>
                  <a:srgbClr val="172B3A"/>
                </a:solidFill>
              </a:defRPr>
            </a:pPr>
            <a:r>
              <a:rPr sz="1875" b="0">
                <a:solidFill>
                  <a:srgbClr val="172B3A"/>
                </a:solidFill>
                <a:latin typeface="Helvetica Neue"/>
                <a:ea typeface="Helvetica Neue"/>
                <a:cs typeface="Helvetica Neue"/>
              </a:rPr>
              <a:t>Other 3: same rule as gap-only</a:t>
            </a:r>
          </a:p>
        </p:txBody>
      </p:sp>
      <p:sp>
        <p:nvSpPr>
          <p:cNvPr id="8" name="">
            <a:extLst xmlns:a="http://schemas.openxmlformats.org/drawingml/2006/main">
              <a:ext uri="{FF2B5EF4-FFF2-40B4-BE49-F238E27FC236}">
                <a16:creationId xmlns:a16="http://schemas.microsoft.com/office/drawing/2014/main" id="{DA3C707F-33CA-4491-8383-A19BC374B67F}"/>
              </a:ext>
            </a:extLst>
          </p:cNvPr>
          <p:cNvSpPr>
            <a:spLocks xmlns:a="http://schemas.openxmlformats.org/drawingml/2006/main" noGrp="1"/>
          </p:cNvSpPr>
          <p:nvPr/>
        </p:nvSpPr>
        <p:spPr>
          <a:xfrm xmlns:a="http://schemas.openxmlformats.org/drawingml/2006/main">
            <a:off x="609600" y="55816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270"/>
                </a:solidFill>
              </a:defRPr>
            </a:defPPr>
            <a:lvl1pPr>
              <a:defRPr sz="1800" b="0">
                <a:solidFill>
                  <a:srgbClr val="526270"/>
                </a:solidFill>
              </a:defRPr>
            </a:lvl1pPr>
            <a:lvl2pPr>
              <a:defRPr sz="1800" b="0">
                <a:solidFill>
                  <a:srgbClr val="526270"/>
                </a:solidFill>
              </a:defRPr>
            </a:lvl2pPr>
            <a:lvl3pPr>
              <a:defRPr sz="1800" b="0">
                <a:solidFill>
                  <a:srgbClr val="526270"/>
                </a:solidFill>
              </a:defRPr>
            </a:lvl3pPr>
            <a:lvl4pPr>
              <a:defRPr sz="1800" b="0">
                <a:solidFill>
                  <a:srgbClr val="526270"/>
                </a:solidFill>
              </a:defRPr>
            </a:lvl4pPr>
            <a:lvl5pPr>
              <a:defRPr sz="1800" b="0">
                <a:solidFill>
                  <a:srgbClr val="526270"/>
                </a:solidFill>
              </a:defRPr>
            </a:lvl5pPr>
            <a:lvl6pPr>
              <a:defRPr sz="1800" b="0">
                <a:solidFill>
                  <a:srgbClr val="526270"/>
                </a:solidFill>
              </a:defRPr>
            </a:lvl6pPr>
            <a:lvl7pPr>
              <a:defRPr sz="1800" b="0">
                <a:solidFill>
                  <a:srgbClr val="526270"/>
                </a:solidFill>
              </a:defRPr>
            </a:lvl7pPr>
            <a:lvl8pPr>
              <a:defRPr sz="1800" b="0">
                <a:solidFill>
                  <a:srgbClr val="526270"/>
                </a:solidFill>
              </a:defRPr>
            </a:lvl8pPr>
            <a:lvl9pPr>
              <a:defRPr sz="1800" b="0">
                <a:solidFill>
                  <a:srgbClr val="526270"/>
                </a:solidFill>
              </a:defRPr>
            </a:lvl9pPr>
          </a:lstStyle>
          <a:p xmlns:a="http://schemas.openxmlformats.org/drawingml/2006/main">
            <a:pPr>
              <a:defRPr sz="1800" b="0">
                <a:solidFill>
                  <a:srgbClr val="526270"/>
                </a:solidFill>
              </a:defRPr>
            </a:pPr>
            <a:r>
              <a:rPr sz="1800" b="0">
                <a:solidFill>
                  <a:srgbClr val="526270"/>
                </a:solidFill>
                <a:latin typeface="Helvetica Neue"/>
                <a:ea typeface="Helvetica Neue"/>
                <a:cs typeface="Helvetica Neue"/>
              </a:rPr>
              <a:t>Same model, same candidate grid, same-model Business Group baseline. No constraint relaxation.</a:t>
            </a:r>
          </a:p>
        </p:txBody>
      </p:sp>
    </p:spTree>
    <p:extLst>
      <p:ext uri="{BB962C8B-B14F-4D97-AF65-F5344CB8AC3E}">
        <p14:creationId xmlns:p14="http://schemas.microsoft.com/office/powerpoint/2010/main" val="1274399016"/>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22FFB9-5868-4AF3-B44A-076330284B3E}"/>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Experimental Evaluation and Feasibility</a:t>
            </a:r>
          </a:p>
        </p:txBody>
      </p:sp>
      <p:sp>
        <p:nvSpPr>
          <p:cNvPr id="2" name="">
            <a:extLst xmlns:a="http://schemas.openxmlformats.org/drawingml/2006/main">
              <a:ext uri="{FF2B5EF4-FFF2-40B4-BE49-F238E27FC236}">
                <a16:creationId xmlns:a16="http://schemas.microsoft.com/office/drawing/2014/main" id="{1A0808A0-D928-44E0-A668-A1D82D737701}"/>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7 / 8</a:t>
            </a:r>
          </a:p>
        </p:txBody>
      </p:sp>
      <p:sp>
        <p:nvSpPr>
          <p:cNvPr id="3" name="">
            <a:extLst xmlns:a="http://schemas.openxmlformats.org/drawingml/2006/main">
              <a:ext uri="{FF2B5EF4-FFF2-40B4-BE49-F238E27FC236}">
                <a16:creationId xmlns:a16="http://schemas.microsoft.com/office/drawing/2014/main" id="{83418F89-1B60-4DE0-9E56-7E1505C1F104}"/>
              </a:ext>
            </a:extLst>
          </p:cNvPr>
          <p:cNvSpPr>
            <a:spLocks xmlns:a="http://schemas.openxmlformats.org/drawingml/2006/main" noGrp="1"/>
          </p:cNvSpPr>
          <p:nvPr/>
        </p:nvSpPr>
        <p:spPr>
          <a:xfrm xmlns:a="http://schemas.openxmlformats.org/drawingml/2006/main">
            <a:off x="609600" y="13144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270"/>
                </a:solidFill>
              </a:defRPr>
            </a:defPPr>
            <a:lvl1pPr>
              <a:defRPr sz="1800" b="0">
                <a:solidFill>
                  <a:srgbClr val="526270"/>
                </a:solidFill>
              </a:defRPr>
            </a:lvl1pPr>
            <a:lvl2pPr>
              <a:defRPr sz="1800" b="0">
                <a:solidFill>
                  <a:srgbClr val="526270"/>
                </a:solidFill>
              </a:defRPr>
            </a:lvl2pPr>
            <a:lvl3pPr>
              <a:defRPr sz="1800" b="0">
                <a:solidFill>
                  <a:srgbClr val="526270"/>
                </a:solidFill>
              </a:defRPr>
            </a:lvl3pPr>
            <a:lvl4pPr>
              <a:defRPr sz="1800" b="0">
                <a:solidFill>
                  <a:srgbClr val="526270"/>
                </a:solidFill>
              </a:defRPr>
            </a:lvl4pPr>
            <a:lvl5pPr>
              <a:defRPr sz="1800" b="0">
                <a:solidFill>
                  <a:srgbClr val="526270"/>
                </a:solidFill>
              </a:defRPr>
            </a:lvl5pPr>
            <a:lvl6pPr>
              <a:defRPr sz="1800" b="0">
                <a:solidFill>
                  <a:srgbClr val="526270"/>
                </a:solidFill>
              </a:defRPr>
            </a:lvl6pPr>
            <a:lvl7pPr>
              <a:defRPr sz="1800" b="0">
                <a:solidFill>
                  <a:srgbClr val="526270"/>
                </a:solidFill>
              </a:defRPr>
            </a:lvl7pPr>
            <a:lvl8pPr>
              <a:defRPr sz="1800" b="0">
                <a:solidFill>
                  <a:srgbClr val="526270"/>
                </a:solidFill>
              </a:defRPr>
            </a:lvl8pPr>
            <a:lvl9pPr>
              <a:defRPr sz="1800" b="0">
                <a:solidFill>
                  <a:srgbClr val="526270"/>
                </a:solidFill>
              </a:defRPr>
            </a:lvl9pPr>
          </a:lstStyle>
          <a:p xmlns:a="http://schemas.openxmlformats.org/drawingml/2006/main">
            <a:pPr>
              <a:defRPr sz="1800" b="0">
                <a:solidFill>
                  <a:srgbClr val="526270"/>
                </a:solidFill>
              </a:defRPr>
            </a:pPr>
            <a:r>
              <a:rPr sz="1800" b="0">
                <a:solidFill>
                  <a:srgbClr val="526270"/>
                </a:solidFill>
                <a:latin typeface="Helvetica Neue"/>
                <a:ea typeface="Helvetica Neue"/>
                <a:cs typeface="Helvetica Neue"/>
              </a:rPr>
              <a:t>Static replay on one historical population. Five simulation seeds.</a:t>
            </a:r>
          </a:p>
        </p:txBody>
      </p:sp>
      <p:sp>
        <p:nvSpPr>
          <p:cNvPr id="4" name="">
            <a:extLst xmlns:a="http://schemas.openxmlformats.org/drawingml/2006/main">
              <a:ext uri="{FF2B5EF4-FFF2-40B4-BE49-F238E27FC236}">
                <a16:creationId xmlns:a16="http://schemas.microsoft.com/office/drawing/2014/main" id="{B58ADB2D-FF90-4883-8352-828AF248B4CC}"/>
              </a:ext>
            </a:extLst>
          </p:cNvPr>
          <p:cNvSpPr>
            <a:spLocks xmlns:a="http://schemas.openxmlformats.org/drawingml/2006/main" noGrp="1"/>
          </p:cNvSpPr>
          <p:nvPr/>
        </p:nvSpPr>
        <p:spPr>
          <a:xfrm xmlns:a="http://schemas.openxmlformats.org/drawingml/2006/main">
            <a:off x="609600" y="1962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67D86"/>
                </a:solidFill>
              </a:defRPr>
            </a:defPPr>
            <a:lvl1pPr>
              <a:defRPr sz="2100" b="1">
                <a:solidFill>
                  <a:srgbClr val="167D86"/>
                </a:solidFill>
              </a:defRPr>
            </a:lvl1pPr>
            <a:lvl2pPr>
              <a:defRPr sz="2100" b="1">
                <a:solidFill>
                  <a:srgbClr val="167D86"/>
                </a:solidFill>
              </a:defRPr>
            </a:lvl2pPr>
            <a:lvl3pPr>
              <a:defRPr sz="2100" b="1">
                <a:solidFill>
                  <a:srgbClr val="167D86"/>
                </a:solidFill>
              </a:defRPr>
            </a:lvl3pPr>
            <a:lvl4pPr>
              <a:defRPr sz="2100" b="1">
                <a:solidFill>
                  <a:srgbClr val="167D86"/>
                </a:solidFill>
              </a:defRPr>
            </a:lvl4pPr>
            <a:lvl5pPr>
              <a:defRPr sz="2100" b="1">
                <a:solidFill>
                  <a:srgbClr val="167D86"/>
                </a:solidFill>
              </a:defRPr>
            </a:lvl5pPr>
            <a:lvl6pPr>
              <a:defRPr sz="2100" b="1">
                <a:solidFill>
                  <a:srgbClr val="167D86"/>
                </a:solidFill>
              </a:defRPr>
            </a:lvl6pPr>
            <a:lvl7pPr>
              <a:defRPr sz="2100" b="1">
                <a:solidFill>
                  <a:srgbClr val="167D86"/>
                </a:solidFill>
              </a:defRPr>
            </a:lvl7pPr>
            <a:lvl8pPr>
              <a:defRPr sz="2100" b="1">
                <a:solidFill>
                  <a:srgbClr val="167D86"/>
                </a:solidFill>
              </a:defRPr>
            </a:lvl8pPr>
            <a:lvl9pPr>
              <a:defRPr sz="2100" b="1">
                <a:solidFill>
                  <a:srgbClr val="167D86"/>
                </a:solidFill>
              </a:defRPr>
            </a:lvl9pPr>
          </a:lstStyle>
          <a:p xmlns:a="http://schemas.openxmlformats.org/drawingml/2006/main">
            <a:pPr>
              <a:defRPr sz="2100" b="1">
                <a:solidFill>
                  <a:srgbClr val="167D86"/>
                </a:solidFill>
              </a:defRPr>
            </a:pPr>
            <a:r>
              <a:rPr sz="2100" b="1">
                <a:solidFill>
                  <a:srgbClr val="167D86"/>
                </a:solidFill>
                <a:latin typeface="Helvetica Neue"/>
                <a:ea typeface="Helvetica Neue"/>
                <a:cs typeface="Helvetica Neue"/>
              </a:rPr>
              <a:t>Thin-group FRR at 10% exploration</a:t>
            </a:r>
          </a:p>
        </p:txBody>
      </p:sp>
      <p:graphicFrame>
        <p:nvGraphicFramePr>
          <p:cNvPr id="5" name="Chart">
            <a:extLst xmlns:a="http://schemas.openxmlformats.org/drawingml/2006/main">
              <a:ext uri="{FF2B5EF4-FFF2-40B4-BE49-F238E27FC236}">
                <a16:creationId xmlns:a16="http://schemas.microsoft.com/office/drawing/2014/main" id="{7C46E504-E434-4112-A070-36C4BCD76EAA}"/>
              </a:ext>
            </a:extLst>
          </p:cNvPr>
          <p:cNvGraphicFramePr/>
          <p:nvPr/>
        </p:nvGraphicFramePr>
        <p:xfrm>
          <a:off xmlns:a="http://schemas.openxmlformats.org/drawingml/2006/main" x="609600" y="2571750"/>
          <a:ext xmlns:a="http://schemas.openxmlformats.org/drawingml/2006/main" cx="5143500" cy="2762250"/>
        </p:xfrm>
        <a:graphic xmlns:a="http://schemas.openxmlformats.org/drawingml/2006/main">
          <a:graphicData uri="http://schemas.openxmlformats.org/drawingml/2006/chart">
            <c:chart xmlns:r="http://schemas.openxmlformats.org/officeDocument/2006/relationships" xmlns:c="http://schemas.openxmlformats.org/drawingml/2006/chart" r:id="R0aa0abfa76cb4bdf"/>
          </a:graphicData>
        </a:graphic>
      </p:graphicFrame>
      <p:sp>
        <p:nvSpPr>
          <p:cNvPr id="6" name="">
            <a:extLst xmlns:a="http://schemas.openxmlformats.org/drawingml/2006/main">
              <a:ext uri="{FF2B5EF4-FFF2-40B4-BE49-F238E27FC236}">
                <a16:creationId xmlns:a16="http://schemas.microsoft.com/office/drawing/2014/main" id="{6706DF65-B6D0-4AF7-BFDE-A8EEB06A16D0}"/>
              </a:ext>
            </a:extLst>
          </p:cNvPr>
          <p:cNvSpPr>
            <a:spLocks xmlns:a="http://schemas.openxmlformats.org/drawingml/2006/main" noGrp="1"/>
          </p:cNvSpPr>
          <p:nvPr/>
        </p:nvSpPr>
        <p:spPr>
          <a:xfrm xmlns:a="http://schemas.openxmlformats.org/drawingml/2006/main">
            <a:off x="6572250" y="1962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B86B2D"/>
                </a:solidFill>
              </a:defRPr>
            </a:defPPr>
            <a:lvl1pPr>
              <a:defRPr sz="2025" b="1">
                <a:solidFill>
                  <a:srgbClr val="B86B2D"/>
                </a:solidFill>
              </a:defRPr>
            </a:lvl1pPr>
            <a:lvl2pPr>
              <a:defRPr sz="2025" b="1">
                <a:solidFill>
                  <a:srgbClr val="B86B2D"/>
                </a:solidFill>
              </a:defRPr>
            </a:lvl2pPr>
            <a:lvl3pPr>
              <a:defRPr sz="2025" b="1">
                <a:solidFill>
                  <a:srgbClr val="B86B2D"/>
                </a:solidFill>
              </a:defRPr>
            </a:lvl3pPr>
            <a:lvl4pPr>
              <a:defRPr sz="2025" b="1">
                <a:solidFill>
                  <a:srgbClr val="B86B2D"/>
                </a:solidFill>
              </a:defRPr>
            </a:lvl4pPr>
            <a:lvl5pPr>
              <a:defRPr sz="2025" b="1">
                <a:solidFill>
                  <a:srgbClr val="B86B2D"/>
                </a:solidFill>
              </a:defRPr>
            </a:lvl5pPr>
            <a:lvl6pPr>
              <a:defRPr sz="2025" b="1">
                <a:solidFill>
                  <a:srgbClr val="B86B2D"/>
                </a:solidFill>
              </a:defRPr>
            </a:lvl6pPr>
            <a:lvl7pPr>
              <a:defRPr sz="2025" b="1">
                <a:solidFill>
                  <a:srgbClr val="B86B2D"/>
                </a:solidFill>
              </a:defRPr>
            </a:lvl7pPr>
            <a:lvl8pPr>
              <a:defRPr sz="2025" b="1">
                <a:solidFill>
                  <a:srgbClr val="B86B2D"/>
                </a:solidFill>
              </a:defRPr>
            </a:lvl8pPr>
            <a:lvl9pPr>
              <a:defRPr sz="2025" b="1">
                <a:solidFill>
                  <a:srgbClr val="B86B2D"/>
                </a:solidFill>
              </a:defRPr>
            </a:lvl9pPr>
          </a:lstStyle>
          <a:p xmlns:a="http://schemas.openxmlformats.org/drawingml/2006/main">
            <a:pPr>
              <a:defRPr sz="2025" b="1">
                <a:solidFill>
                  <a:srgbClr val="B86B2D"/>
                </a:solidFill>
              </a:defRPr>
            </a:pPr>
            <a:r>
              <a:rPr sz="2025" b="1">
                <a:solidFill>
                  <a:srgbClr val="B86B2D"/>
                </a:solidFill>
                <a:latin typeface="Helvetica Neue"/>
                <a:ea typeface="Helvetica Neue"/>
                <a:cs typeface="Helvetica Neue"/>
              </a:rPr>
              <a:t>Actual approved risk includes exploration</a:t>
            </a:r>
          </a:p>
        </p:txBody>
      </p:sp>
      <p:graphicFrame>
        <p:nvGraphicFramePr>
          <p:cNvPr id="7" name="Chart">
            <a:extLst xmlns:a="http://schemas.openxmlformats.org/drawingml/2006/main">
              <a:ext uri="{FF2B5EF4-FFF2-40B4-BE49-F238E27FC236}">
                <a16:creationId xmlns:a16="http://schemas.microsoft.com/office/drawing/2014/main" id="{DBF4280F-7D02-4B99-928A-F6596A10D836}"/>
              </a:ext>
            </a:extLst>
          </p:cNvPr>
          <p:cNvGraphicFramePr/>
          <p:nvPr/>
        </p:nvGraphicFramePr>
        <p:xfrm>
          <a:off xmlns:a="http://schemas.openxmlformats.org/drawingml/2006/main" x="6572250" y="2571750"/>
          <a:ext xmlns:a="http://schemas.openxmlformats.org/drawingml/2006/main" cx="4953000" cy="2762250"/>
        </p:xfrm>
        <a:graphic xmlns:a="http://schemas.openxmlformats.org/drawingml/2006/main">
          <a:graphicData uri="http://schemas.openxmlformats.org/drawingml/2006/chart">
            <c:chart xmlns:r="http://schemas.openxmlformats.org/officeDocument/2006/relationships" xmlns:c="http://schemas.openxmlformats.org/drawingml/2006/chart" r:id="Ra2c5d6d22f8244ae"/>
          </a:graphicData>
        </a:graphic>
      </p:graphicFrame>
      <p:sp>
        <p:nvSpPr>
          <p:cNvPr id="8" name="">
            <a:extLst xmlns:a="http://schemas.openxmlformats.org/drawingml/2006/main">
              <a:ext uri="{FF2B5EF4-FFF2-40B4-BE49-F238E27FC236}">
                <a16:creationId xmlns:a16="http://schemas.microsoft.com/office/drawing/2014/main" id="{738F19E9-D766-4054-AE88-4816C21765B7}"/>
              </a:ext>
            </a:extLst>
          </p:cNvPr>
          <p:cNvSpPr>
            <a:spLocks xmlns:a="http://schemas.openxmlformats.org/drawingml/2006/main" noGrp="1"/>
          </p:cNvSpPr>
          <p:nvPr/>
        </p:nvSpPr>
        <p:spPr>
          <a:xfrm xmlns:a="http://schemas.openxmlformats.org/drawingml/2006/main">
            <a:off x="609600" y="573405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270"/>
                </a:solidFill>
              </a:defRPr>
            </a:defPPr>
            <a:lvl1pPr>
              <a:defRPr sz="1725" b="0">
                <a:solidFill>
                  <a:srgbClr val="526270"/>
                </a:solidFill>
              </a:defRPr>
            </a:lvl1pPr>
            <a:lvl2pPr>
              <a:defRPr sz="1725" b="0">
                <a:solidFill>
                  <a:srgbClr val="526270"/>
                </a:solidFill>
              </a:defRPr>
            </a:lvl2pPr>
            <a:lvl3pPr>
              <a:defRPr sz="1725" b="0">
                <a:solidFill>
                  <a:srgbClr val="526270"/>
                </a:solidFill>
              </a:defRPr>
            </a:lvl3pPr>
            <a:lvl4pPr>
              <a:defRPr sz="1725" b="0">
                <a:solidFill>
                  <a:srgbClr val="526270"/>
                </a:solidFill>
              </a:defRPr>
            </a:lvl4pPr>
            <a:lvl5pPr>
              <a:defRPr sz="1725" b="0">
                <a:solidFill>
                  <a:srgbClr val="526270"/>
                </a:solidFill>
              </a:defRPr>
            </a:lvl5pPr>
            <a:lvl6pPr>
              <a:defRPr sz="1725" b="0">
                <a:solidFill>
                  <a:srgbClr val="526270"/>
                </a:solidFill>
              </a:defRPr>
            </a:lvl6pPr>
            <a:lvl7pPr>
              <a:defRPr sz="1725" b="0">
                <a:solidFill>
                  <a:srgbClr val="526270"/>
                </a:solidFill>
              </a:defRPr>
            </a:lvl7pPr>
            <a:lvl8pPr>
              <a:defRPr sz="1725" b="0">
                <a:solidFill>
                  <a:srgbClr val="526270"/>
                </a:solidFill>
              </a:defRPr>
            </a:lvl8pPr>
            <a:lvl9pPr>
              <a:defRPr sz="1725" b="0">
                <a:solidFill>
                  <a:srgbClr val="526270"/>
                </a:solidFill>
              </a:defRPr>
            </a:lvl9pPr>
          </a:lstStyle>
          <a:p xmlns:a="http://schemas.openxmlformats.org/drawingml/2006/main">
            <a:pPr>
              <a:defRPr sz="1725" b="0">
                <a:solidFill>
                  <a:srgbClr val="526270"/>
                </a:solidFill>
              </a:defRPr>
            </a:pPr>
            <a:r>
              <a:rPr sz="1725" b="0">
                <a:solidFill>
                  <a:srgbClr val="526270"/>
                </a:solidFill>
                <a:latin typeface="Helvetica Neue"/>
                <a:ea typeface="Helvetica Neue"/>
                <a:cs typeface="Helvetica Neue"/>
              </a:rPr>
              <a:t>0% exploration: IPW NOT_IDENTIFIABLE</a:t>
            </a:r>
            <a:br>
              <a:rPr sz="1725" b="0">
                <a:solidFill>
                  <a:srgbClr val="526270"/>
                </a:solidFill>
                <a:latin typeface="Helvetica Neue"/>
                <a:ea typeface="Helvetica Neue"/>
                <a:cs typeface="Helvetica Neue"/>
              </a:rPr>
            </a:br>
            <a:r>
              <a:rPr sz="1725" b="0">
                <a:solidFill>
                  <a:srgbClr val="526270"/>
                </a:solidFill>
                <a:latin typeface="Helvetica Neue"/>
                <a:ea typeface="Helvetica Neue"/>
                <a:cs typeface="Helvetica Neue"/>
              </a:rPr>
              <a:t>Income audit: comparison / middle FRR rises 1.82pp (exploratory)</a:t>
            </a:r>
          </a:p>
        </p:txBody>
      </p:sp>
    </p:spTree>
    <p:extLst>
      <p:ext uri="{BB962C8B-B14F-4D97-AF65-F5344CB8AC3E}">
        <p14:creationId xmlns:p14="http://schemas.microsoft.com/office/powerpoint/2010/main" val="304283483"/>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9A5719-9442-4C57-9B41-EC548D25F9F6}"/>
              </a:ext>
            </a:extLst>
          </p:cNvPr>
          <p:cNvSpPr>
            <a:spLocks xmlns:a="http://schemas.openxmlformats.org/drawingml/2006/main" noGrp="1"/>
          </p:cNvSpPr>
          <p:nvPr/>
        </p:nvSpPr>
        <p:spPr>
          <a:xfrm xmlns:a="http://schemas.openxmlformats.org/drawingml/2006/main">
            <a:off x="609600" y="4000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72B3A"/>
                </a:solidFill>
              </a:defRPr>
            </a:defPPr>
            <a:lvl1pPr>
              <a:defRPr sz="3000" b="1">
                <a:solidFill>
                  <a:srgbClr val="172B3A"/>
                </a:solidFill>
              </a:defRPr>
            </a:lvl1pPr>
            <a:lvl2pPr>
              <a:defRPr sz="3000" b="1">
                <a:solidFill>
                  <a:srgbClr val="172B3A"/>
                </a:solidFill>
              </a:defRPr>
            </a:lvl2pPr>
            <a:lvl3pPr>
              <a:defRPr sz="3000" b="1">
                <a:solidFill>
                  <a:srgbClr val="172B3A"/>
                </a:solidFill>
              </a:defRPr>
            </a:lvl3pPr>
            <a:lvl4pPr>
              <a:defRPr sz="3000" b="1">
                <a:solidFill>
                  <a:srgbClr val="172B3A"/>
                </a:solidFill>
              </a:defRPr>
            </a:lvl4pPr>
            <a:lvl5pPr>
              <a:defRPr sz="3000" b="1">
                <a:solidFill>
                  <a:srgbClr val="172B3A"/>
                </a:solidFill>
              </a:defRPr>
            </a:lvl5pPr>
            <a:lvl6pPr>
              <a:defRPr sz="3000" b="1">
                <a:solidFill>
                  <a:srgbClr val="172B3A"/>
                </a:solidFill>
              </a:defRPr>
            </a:lvl6pPr>
            <a:lvl7pPr>
              <a:defRPr sz="3000" b="1">
                <a:solidFill>
                  <a:srgbClr val="172B3A"/>
                </a:solidFill>
              </a:defRPr>
            </a:lvl7pPr>
            <a:lvl8pPr>
              <a:defRPr sz="3000" b="1">
                <a:solidFill>
                  <a:srgbClr val="172B3A"/>
                </a:solidFill>
              </a:defRPr>
            </a:lvl8pPr>
            <a:lvl9pPr>
              <a:defRPr sz="3000" b="1">
                <a:solidFill>
                  <a:srgbClr val="172B3A"/>
                </a:solidFill>
              </a:defRPr>
            </a:lvl9pPr>
          </a:lstStyle>
          <a:p xmlns:a="http://schemas.openxmlformats.org/drawingml/2006/main">
            <a:pPr>
              <a:defRPr sz="3000" b="1">
                <a:solidFill>
                  <a:srgbClr val="172B3A"/>
                </a:solidFill>
              </a:defRPr>
            </a:pPr>
            <a:r>
              <a:rPr sz="3000" b="1">
                <a:solidFill>
                  <a:srgbClr val="172B3A"/>
                </a:solidFill>
                <a:latin typeface="Helvetica Neue"/>
                <a:ea typeface="Helvetica Neue"/>
                <a:cs typeface="Helvetica Neue"/>
              </a:rPr>
              <a:t>Conclusions and Limitations</a:t>
            </a:r>
          </a:p>
        </p:txBody>
      </p:sp>
      <p:sp>
        <p:nvSpPr>
          <p:cNvPr id="2" name="">
            <a:extLst xmlns:a="http://schemas.openxmlformats.org/drawingml/2006/main">
              <a:ext uri="{FF2B5EF4-FFF2-40B4-BE49-F238E27FC236}">
                <a16:creationId xmlns:a16="http://schemas.microsoft.com/office/drawing/2014/main" id="{B52086F0-0FA1-4ABA-B5AD-9EBDA2D071FA}"/>
              </a:ext>
            </a:extLst>
          </p:cNvPr>
          <p:cNvSpPr>
            <a:spLocks xmlns:a="http://schemas.openxmlformats.org/drawingml/2006/main" noGrp="1"/>
          </p:cNvSpPr>
          <p:nvPr/>
        </p:nvSpPr>
        <p:spPr>
          <a:xfrm xmlns:a="http://schemas.openxmlformats.org/drawingml/2006/main">
            <a:off x="11049000" y="63341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270"/>
                </a:solidFill>
              </a:defRPr>
            </a:defPPr>
            <a:lvl1pPr>
              <a:defRPr sz="1275" b="0">
                <a:solidFill>
                  <a:srgbClr val="526270"/>
                </a:solidFill>
              </a:defRPr>
            </a:lvl1pPr>
            <a:lvl2pPr>
              <a:defRPr sz="1275" b="0">
                <a:solidFill>
                  <a:srgbClr val="526270"/>
                </a:solidFill>
              </a:defRPr>
            </a:lvl2pPr>
            <a:lvl3pPr>
              <a:defRPr sz="1275" b="0">
                <a:solidFill>
                  <a:srgbClr val="526270"/>
                </a:solidFill>
              </a:defRPr>
            </a:lvl3pPr>
            <a:lvl4pPr>
              <a:defRPr sz="1275" b="0">
                <a:solidFill>
                  <a:srgbClr val="526270"/>
                </a:solidFill>
              </a:defRPr>
            </a:lvl4pPr>
            <a:lvl5pPr>
              <a:defRPr sz="1275" b="0">
                <a:solidFill>
                  <a:srgbClr val="526270"/>
                </a:solidFill>
              </a:defRPr>
            </a:lvl5pPr>
            <a:lvl6pPr>
              <a:defRPr sz="1275" b="0">
                <a:solidFill>
                  <a:srgbClr val="526270"/>
                </a:solidFill>
              </a:defRPr>
            </a:lvl6pPr>
            <a:lvl7pPr>
              <a:defRPr sz="1275" b="0">
                <a:solidFill>
                  <a:srgbClr val="526270"/>
                </a:solidFill>
              </a:defRPr>
            </a:lvl7pPr>
            <a:lvl8pPr>
              <a:defRPr sz="1275" b="0">
                <a:solidFill>
                  <a:srgbClr val="526270"/>
                </a:solidFill>
              </a:defRPr>
            </a:lvl8pPr>
            <a:lvl9pPr>
              <a:defRPr sz="1275" b="0">
                <a:solidFill>
                  <a:srgbClr val="526270"/>
                </a:solidFill>
              </a:defRPr>
            </a:lvl9pPr>
          </a:lstStyle>
          <a:p xmlns:a="http://schemas.openxmlformats.org/drawingml/2006/main">
            <a:pPr>
              <a:defRPr sz="1275" b="0">
                <a:solidFill>
                  <a:srgbClr val="526270"/>
                </a:solidFill>
              </a:defRPr>
            </a:pPr>
            <a:r>
              <a:rPr sz="1275" b="0">
                <a:solidFill>
                  <a:srgbClr val="526270"/>
                </a:solidFill>
                <a:latin typeface="Helvetica Neue"/>
                <a:ea typeface="Helvetica Neue"/>
                <a:cs typeface="Helvetica Neue"/>
              </a:rPr>
              <a:t>8 / 8</a:t>
            </a:r>
          </a:p>
        </p:txBody>
      </p:sp>
      <p:sp>
        <p:nvSpPr>
          <p:cNvPr id="3" name="">
            <a:extLst xmlns:a="http://schemas.openxmlformats.org/drawingml/2006/main">
              <a:ext uri="{FF2B5EF4-FFF2-40B4-BE49-F238E27FC236}">
                <a16:creationId xmlns:a16="http://schemas.microsoft.com/office/drawing/2014/main" id="{94821C92-7193-4C32-B066-DDB2EC633A61}"/>
              </a:ext>
            </a:extLst>
          </p:cNvPr>
          <p:cNvSpPr>
            <a:spLocks xmlns:a="http://schemas.openxmlformats.org/drawingml/2006/main" noGrp="1"/>
          </p:cNvSpPr>
          <p:nvPr/>
        </p:nvSpPr>
        <p:spPr>
          <a:xfrm xmlns:a="http://schemas.openxmlformats.org/drawingml/2006/main">
            <a:off x="609600" y="1581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67D86"/>
                </a:solidFill>
              </a:defRPr>
            </a:defPPr>
            <a:lvl1pPr>
              <a:defRPr sz="2700" b="1">
                <a:solidFill>
                  <a:srgbClr val="167D86"/>
                </a:solidFill>
              </a:defRPr>
            </a:lvl1pPr>
            <a:lvl2pPr>
              <a:defRPr sz="2700" b="1">
                <a:solidFill>
                  <a:srgbClr val="167D86"/>
                </a:solidFill>
              </a:defRPr>
            </a:lvl2pPr>
            <a:lvl3pPr>
              <a:defRPr sz="2700" b="1">
                <a:solidFill>
                  <a:srgbClr val="167D86"/>
                </a:solidFill>
              </a:defRPr>
            </a:lvl3pPr>
            <a:lvl4pPr>
              <a:defRPr sz="2700" b="1">
                <a:solidFill>
                  <a:srgbClr val="167D86"/>
                </a:solidFill>
              </a:defRPr>
            </a:lvl4pPr>
            <a:lvl5pPr>
              <a:defRPr sz="2700" b="1">
                <a:solidFill>
                  <a:srgbClr val="167D86"/>
                </a:solidFill>
              </a:defRPr>
            </a:lvl5pPr>
            <a:lvl6pPr>
              <a:defRPr sz="2700" b="1">
                <a:solidFill>
                  <a:srgbClr val="167D86"/>
                </a:solidFill>
              </a:defRPr>
            </a:lvl6pPr>
            <a:lvl7pPr>
              <a:defRPr sz="2700" b="1">
                <a:solidFill>
                  <a:srgbClr val="167D86"/>
                </a:solidFill>
              </a:defRPr>
            </a:lvl7pPr>
            <a:lvl8pPr>
              <a:defRPr sz="2700" b="1">
                <a:solidFill>
                  <a:srgbClr val="167D86"/>
                </a:solidFill>
              </a:defRPr>
            </a:lvl8pPr>
            <a:lvl9pPr>
              <a:defRPr sz="2700" b="1">
                <a:solidFill>
                  <a:srgbClr val="167D86"/>
                </a:solidFill>
              </a:defRPr>
            </a:lvl9pPr>
          </a:lstStyle>
          <a:p xmlns:a="http://schemas.openxmlformats.org/drawingml/2006/main">
            <a:pPr>
              <a:defRPr sz="2700" b="1">
                <a:solidFill>
                  <a:srgbClr val="167D86"/>
                </a:solidFill>
              </a:defRPr>
            </a:pPr>
            <a:r>
              <a:rPr sz="2700" b="1">
                <a:solidFill>
                  <a:srgbClr val="167D86"/>
                </a:solidFill>
                <a:latin typeface="Helvetica Neue"/>
                <a:ea typeface="Helvetica Neue"/>
                <a:cs typeface="Helvetica Neue"/>
              </a:rPr>
              <a:t>Fairness decisions have distributional costs</a:t>
            </a:r>
          </a:p>
        </p:txBody>
      </p:sp>
      <p:sp>
        <p:nvSpPr>
          <p:cNvPr id="4" name="">
            <a:extLst xmlns:a="http://schemas.openxmlformats.org/drawingml/2006/main">
              <a:ext uri="{FF2B5EF4-FFF2-40B4-BE49-F238E27FC236}">
                <a16:creationId xmlns:a16="http://schemas.microsoft.com/office/drawing/2014/main" id="{BB60258D-6807-4102-9CFA-6392BD3AD7C5}"/>
              </a:ext>
            </a:extLst>
          </p:cNvPr>
          <p:cNvSpPr>
            <a:spLocks xmlns:a="http://schemas.openxmlformats.org/drawingml/2006/main" noGrp="1"/>
          </p:cNvSpPr>
          <p:nvPr/>
        </p:nvSpPr>
        <p:spPr>
          <a:xfrm xmlns:a="http://schemas.openxmlformats.org/drawingml/2006/main">
            <a:off x="609600" y="2533650"/>
            <a:ext cx="10763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B3A"/>
                </a:solidFill>
              </a:defRPr>
            </a:defPPr>
            <a:lvl1pPr>
              <a:defRPr sz="2250" b="0">
                <a:solidFill>
                  <a:srgbClr val="172B3A"/>
                </a:solidFill>
              </a:defRPr>
            </a:lvl1pPr>
            <a:lvl2pPr>
              <a:defRPr sz="2250" b="0">
                <a:solidFill>
                  <a:srgbClr val="172B3A"/>
                </a:solidFill>
              </a:defRPr>
            </a:lvl2pPr>
            <a:lvl3pPr>
              <a:defRPr sz="2250" b="0">
                <a:solidFill>
                  <a:srgbClr val="172B3A"/>
                </a:solidFill>
              </a:defRPr>
            </a:lvl3pPr>
            <a:lvl4pPr>
              <a:defRPr sz="2250" b="0">
                <a:solidFill>
                  <a:srgbClr val="172B3A"/>
                </a:solidFill>
              </a:defRPr>
            </a:lvl4pPr>
            <a:lvl5pPr>
              <a:defRPr sz="2250" b="0">
                <a:solidFill>
                  <a:srgbClr val="172B3A"/>
                </a:solidFill>
              </a:defRPr>
            </a:lvl5pPr>
            <a:lvl6pPr>
              <a:defRPr sz="2250" b="0">
                <a:solidFill>
                  <a:srgbClr val="172B3A"/>
                </a:solidFill>
              </a:defRPr>
            </a:lvl6pPr>
            <a:lvl7pPr>
              <a:defRPr sz="2250" b="0">
                <a:solidFill>
                  <a:srgbClr val="172B3A"/>
                </a:solidFill>
              </a:defRPr>
            </a:lvl7pPr>
            <a:lvl8pPr>
              <a:defRPr sz="2250" b="0">
                <a:solidFill>
                  <a:srgbClr val="172B3A"/>
                </a:solidFill>
              </a:defRPr>
            </a:lvl8pPr>
            <a:lvl9pPr>
              <a:defRPr sz="2250" b="0">
                <a:solidFill>
                  <a:srgbClr val="172B3A"/>
                </a:solidFill>
              </a:defRPr>
            </a:lvl9pPr>
          </a:lstStyle>
          <a:p xmlns:a="http://schemas.openxmlformats.org/drawingml/2006/main">
            <a:pPr>
              <a:defRPr sz="2250" b="0">
                <a:solidFill>
                  <a:srgbClr val="172B3A"/>
                </a:solidFill>
              </a:defRPr>
            </a:pPr>
            <a:r>
              <a:rPr sz="2250" b="0">
                <a:solidFill>
                  <a:srgbClr val="172B3A"/>
                </a:solidFill>
                <a:latin typeface="Helvetica Neue"/>
                <a:ea typeface="Helvetica Neue"/>
                <a:cs typeface="Helvetica Neue"/>
              </a:rPr>
              <a:t>Groupwise protection can be infeasible</a:t>
            </a:r>
            <a:br>
              <a:rPr sz="2250" b="0">
                <a:solidFill>
                  <a:srgbClr val="172B3A"/>
                </a:solidFill>
                <a:latin typeface="Helvetica Neue"/>
                <a:ea typeface="Helvetica Neue"/>
                <a:cs typeface="Helvetica Neue"/>
              </a:rPr>
            </a:br>
            <a:r>
              <a:rPr sz="2250" b="0">
                <a:solidFill>
                  <a:srgbClr val="172B3A"/>
                </a:solidFill>
                <a:latin typeface="Helvetica Neue"/>
                <a:ea typeface="Helvetica Neue"/>
                <a:cs typeface="Helvetica Neue"/>
              </a:rPr>
              <a:t>Exploration trades information for lending risk</a:t>
            </a:r>
            <a:br>
              <a:rPr sz="2250" b="0">
                <a:solidFill>
                  <a:srgbClr val="172B3A"/>
                </a:solidFill>
                <a:latin typeface="Helvetica Neue"/>
                <a:ea typeface="Helvetica Neue"/>
                <a:cs typeface="Helvetica Neue"/>
              </a:rPr>
            </a:br>
            <a:r>
              <a:rPr sz="2250" b="0">
                <a:solidFill>
                  <a:srgbClr val="172B3A"/>
                </a:solidFill>
                <a:latin typeface="Helvetica Neue"/>
                <a:ea typeface="Helvetica Neue"/>
                <a:cs typeface="Helvetica Neue"/>
              </a:rPr>
              <a:t>Monitoring needs visible-label probabilities and ESS</a:t>
            </a:r>
          </a:p>
        </p:txBody>
      </p:sp>
      <p:sp>
        <p:nvSpPr>
          <p:cNvPr id="5" name="">
            <a:extLst xmlns:a="http://schemas.openxmlformats.org/drawingml/2006/main">
              <a:ext uri="{FF2B5EF4-FFF2-40B4-BE49-F238E27FC236}">
                <a16:creationId xmlns:a16="http://schemas.microsoft.com/office/drawing/2014/main" id="{9DFAB794-B6BD-4BA8-B06A-27B77A2BB7D2}"/>
              </a:ext>
            </a:extLst>
          </p:cNvPr>
          <p:cNvSpPr>
            <a:spLocks xmlns:a="http://schemas.openxmlformats.org/drawingml/2006/main" noGrp="1"/>
          </p:cNvSpPr>
          <p:nvPr/>
        </p:nvSpPr>
        <p:spPr>
          <a:xfrm xmlns:a="http://schemas.openxmlformats.org/drawingml/2006/main">
            <a:off x="609600" y="47244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B3A"/>
                </a:solidFill>
              </a:defRPr>
            </a:defPPr>
            <a:lvl1pPr>
              <a:defRPr sz="2100" b="1">
                <a:solidFill>
                  <a:srgbClr val="172B3A"/>
                </a:solidFill>
              </a:defRPr>
            </a:lvl1pPr>
            <a:lvl2pPr>
              <a:defRPr sz="2100" b="1">
                <a:solidFill>
                  <a:srgbClr val="172B3A"/>
                </a:solidFill>
              </a:defRPr>
            </a:lvl2pPr>
            <a:lvl3pPr>
              <a:defRPr sz="2100" b="1">
                <a:solidFill>
                  <a:srgbClr val="172B3A"/>
                </a:solidFill>
              </a:defRPr>
            </a:lvl3pPr>
            <a:lvl4pPr>
              <a:defRPr sz="2100" b="1">
                <a:solidFill>
                  <a:srgbClr val="172B3A"/>
                </a:solidFill>
              </a:defRPr>
            </a:lvl4pPr>
            <a:lvl5pPr>
              <a:defRPr sz="2100" b="1">
                <a:solidFill>
                  <a:srgbClr val="172B3A"/>
                </a:solidFill>
              </a:defRPr>
            </a:lvl5pPr>
            <a:lvl6pPr>
              <a:defRPr sz="2100" b="1">
                <a:solidFill>
                  <a:srgbClr val="172B3A"/>
                </a:solidFill>
              </a:defRPr>
            </a:lvl6pPr>
            <a:lvl7pPr>
              <a:defRPr sz="2100" b="1">
                <a:solidFill>
                  <a:srgbClr val="172B3A"/>
                </a:solidFill>
              </a:defRPr>
            </a:lvl7pPr>
            <a:lvl8pPr>
              <a:defRPr sz="2100" b="1">
                <a:solidFill>
                  <a:srgbClr val="172B3A"/>
                </a:solidFill>
              </a:defRPr>
            </a:lvl8pPr>
            <a:lvl9pPr>
              <a:defRPr sz="2100" b="1">
                <a:solidFill>
                  <a:srgbClr val="172B3A"/>
                </a:solidFill>
              </a:defRPr>
            </a:lvl9pPr>
          </a:lstStyle>
          <a:p xmlns:a="http://schemas.openxmlformats.org/drawingml/2006/main">
            <a:pPr>
              <a:defRPr sz="2100" b="1">
                <a:solidFill>
                  <a:srgbClr val="172B3A"/>
                </a:solidFill>
              </a:defRPr>
            </a:pPr>
            <a:r>
              <a:rPr sz="2100" b="1">
                <a:solidFill>
                  <a:srgbClr val="172B3A"/>
                </a:solidFill>
                <a:latin typeface="Helvetica Neue"/>
                <a:ea typeface="Helvetica Neue"/>
                <a:cs typeface="Helvetica Neue"/>
              </a:rPr>
              <a:t>Evidence boundary</a:t>
            </a:r>
          </a:p>
        </p:txBody>
      </p:sp>
      <p:sp>
        <p:nvSpPr>
          <p:cNvPr id="6" name="">
            <a:extLst xmlns:a="http://schemas.openxmlformats.org/drawingml/2006/main">
              <a:ext uri="{FF2B5EF4-FFF2-40B4-BE49-F238E27FC236}">
                <a16:creationId xmlns:a16="http://schemas.microsoft.com/office/drawing/2014/main" id="{4DC3BCBC-9927-4C8E-B036-AF37F25F539C}"/>
              </a:ext>
            </a:extLst>
          </p:cNvPr>
          <p:cNvSpPr>
            <a:spLocks xmlns:a="http://schemas.openxmlformats.org/drawingml/2006/main" noGrp="1"/>
          </p:cNvSpPr>
          <p:nvPr/>
        </p:nvSpPr>
        <p:spPr>
          <a:xfrm xmlns:a="http://schemas.openxmlformats.org/drawingml/2006/main">
            <a:off x="609600" y="52768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270"/>
                </a:solidFill>
              </a:defRPr>
            </a:defPPr>
            <a:lvl1pPr>
              <a:defRPr sz="1800" b="0">
                <a:solidFill>
                  <a:srgbClr val="526270"/>
                </a:solidFill>
              </a:defRPr>
            </a:lvl1pPr>
            <a:lvl2pPr>
              <a:defRPr sz="1800" b="0">
                <a:solidFill>
                  <a:srgbClr val="526270"/>
                </a:solidFill>
              </a:defRPr>
            </a:lvl2pPr>
            <a:lvl3pPr>
              <a:defRPr sz="1800" b="0">
                <a:solidFill>
                  <a:srgbClr val="526270"/>
                </a:solidFill>
              </a:defRPr>
            </a:lvl3pPr>
            <a:lvl4pPr>
              <a:defRPr sz="1800" b="0">
                <a:solidFill>
                  <a:srgbClr val="526270"/>
                </a:solidFill>
              </a:defRPr>
            </a:lvl4pPr>
            <a:lvl5pPr>
              <a:defRPr sz="1800" b="0">
                <a:solidFill>
                  <a:srgbClr val="526270"/>
                </a:solidFill>
              </a:defRPr>
            </a:lvl5pPr>
            <a:lvl6pPr>
              <a:defRPr sz="1800" b="0">
                <a:solidFill>
                  <a:srgbClr val="526270"/>
                </a:solidFill>
              </a:defRPr>
            </a:lvl6pPr>
            <a:lvl7pPr>
              <a:defRPr sz="1800" b="0">
                <a:solidFill>
                  <a:srgbClr val="526270"/>
                </a:solidFill>
              </a:defRPr>
            </a:lvl7pPr>
            <a:lvl8pPr>
              <a:defRPr sz="1800" b="0">
                <a:solidFill>
                  <a:srgbClr val="526270"/>
                </a:solidFill>
              </a:defRPr>
            </a:lvl8pPr>
            <a:lvl9pPr>
              <a:defRPr sz="1800" b="0">
                <a:solidFill>
                  <a:srgbClr val="526270"/>
                </a:solidFill>
              </a:defRPr>
            </a:lvl9pPr>
          </a:lstStyle>
          <a:p xmlns:a="http://schemas.openxmlformats.org/drawingml/2006/main">
            <a:pPr>
              <a:defRPr sz="1800" b="0">
                <a:solidFill>
                  <a:srgbClr val="526270"/>
                </a:solidFill>
              </a:defRPr>
            </a:pPr>
            <a:r>
              <a:rPr sz="1800" b="0">
                <a:solidFill>
                  <a:srgbClr val="526270"/>
                </a:solidFill>
                <a:latin typeface="Helvetica Neue"/>
                <a:ea typeface="Helvetica Neue"/>
                <a:cs typeface="Helvetica Neue"/>
              </a:rPr>
              <a:t>Previously inspected historical test data. No real rejected-applicant counterfactuals.</a:t>
            </a:r>
            <a:br>
              <a:rPr sz="1800" b="0">
                <a:solidFill>
                  <a:srgbClr val="526270"/>
                </a:solidFill>
                <a:latin typeface="Helvetica Neue"/>
                <a:ea typeface="Helvetica Neue"/>
                <a:cs typeface="Helvetica Neue"/>
              </a:rPr>
            </a:br>
            <a:r>
              <a:rPr sz="1800" b="0">
                <a:solidFill>
                  <a:srgbClr val="526270"/>
                </a:solidFill>
                <a:latin typeface="Helvetica Neue"/>
                <a:ea typeface="Helvetica Neue"/>
                <a:cs typeface="Helvetica Neue"/>
              </a:rPr>
              <a:t>Local CPU validation. Cloud architecture remains a proposed extension.</a:t>
            </a:r>
            <a:br>
              <a:rPr sz="1800" b="0">
                <a:solidFill>
                  <a:srgbClr val="526270"/>
                </a:solidFill>
                <a:latin typeface="Helvetica Neue"/>
                <a:ea typeface="Helvetica Neue"/>
                <a:cs typeface="Helvetica Neue"/>
              </a:rPr>
            </a:br>
            <a:r>
              <a:rPr sz="1800" b="0">
                <a:solidFill>
                  <a:srgbClr val="526270"/>
                </a:solidFill>
                <a:latin typeface="Helvetica Neue"/>
                <a:ea typeface="Helvetica Neue"/>
                <a:cs typeface="Helvetica Neue"/>
              </a:rPr>
              <a:t>No AWS deployment or distributed performance benchmark.</a:t>
            </a:r>
          </a:p>
        </p:txBody>
      </p:sp>
    </p:spTree>
    <p:extLst>
      <p:ext uri="{BB962C8B-B14F-4D97-AF65-F5344CB8AC3E}">
        <p14:creationId xmlns:p14="http://schemas.microsoft.com/office/powerpoint/2010/main" val="124129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2026-10-19T08:30:57.0190000Z</dcterms:created>
  <dcterms:modified xsi:type="dcterms:W3CDTF">2026-10-19T08:30:57.0190000Z</dcterms:modified>
</coreProperties>
</file>